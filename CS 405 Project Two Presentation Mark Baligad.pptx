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5"/>
  </p:notesMasterIdLst>
  <p:sldIdLst>
    <p:sldId id="256" r:id="rId5"/>
    <p:sldId id="257" r:id="rId6"/>
    <p:sldId id="276" r:id="rId7"/>
    <p:sldId id="259" r:id="rId8"/>
    <p:sldId id="270" r:id="rId9"/>
    <p:sldId id="260" r:id="rId10"/>
    <p:sldId id="261" r:id="rId11"/>
    <p:sldId id="262" r:id="rId12"/>
    <p:sldId id="273" r:id="rId13"/>
    <p:sldId id="275" r:id="rId14"/>
    <p:sldId id="263" r:id="rId15"/>
    <p:sldId id="271" r:id="rId16"/>
    <p:sldId id="272" r:id="rId17"/>
    <p:sldId id="274" r:id="rId18"/>
    <p:sldId id="264" r:id="rId19"/>
    <p:sldId id="265" r:id="rId20"/>
    <p:sldId id="266" r:id="rId21"/>
    <p:sldId id="267" r:id="rId22"/>
    <p:sldId id="268" r:id="rId23"/>
    <p:sldId id="269" r:id="rId24"/>
  </p:sldIdLst>
  <p:sldSz cx="12192000" cy="6858000"/>
  <p:notesSz cx="6858000" cy="9144000"/>
  <p:embeddedFontLst>
    <p:embeddedFont>
      <p:font typeface="Aptos Narrow" panose="020B0004020202020204" pitchFamily="34" charset="0"/>
      <p:regular r:id="rId26"/>
      <p:bold r:id="rId27"/>
      <p:italic r:id="rId28"/>
      <p:boldItalic r:id="rId29"/>
    </p:embeddedFont>
    <p:embeddedFont>
      <p:font typeface="Century Gothic" panose="020B0502020202020204" pitchFamily="34" charset="0"/>
      <p:regular r:id="rId30"/>
      <p:bold r:id="rId31"/>
      <p:italic r:id="rId32"/>
      <p:boldItalic r:id="rId33"/>
    </p:embeddedFont>
  </p:embeddedFontLst>
  <p:custDataLst>
    <p:tags r:id="rId3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705223-77A5-4BE3-B64F-496E7948CB2B}" v="125" dt="2025-12-13T03:13:48.448"/>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86" y="143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tags" Target="tags/tag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7.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customschemas.google.com/relationships/presentationmetadata" Target="meta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Baligad" userId="706ed0fd76929b24" providerId="LiveId" clId="{DB0A8BEC-8373-4EC6-ACB5-6F096B712943}"/>
    <pc:docChg chg="undo custSel addSld delSld modSld sldOrd">
      <pc:chgData name="Mark Baligad" userId="706ed0fd76929b24" providerId="LiveId" clId="{DB0A8BEC-8373-4EC6-ACB5-6F096B712943}" dt="2025-12-13T19:24:22.218" v="3347" actId="20577"/>
      <pc:docMkLst>
        <pc:docMk/>
      </pc:docMkLst>
      <pc:sldChg chg="modSp mod">
        <pc:chgData name="Mark Baligad" userId="706ed0fd76929b24" providerId="LiveId" clId="{DB0A8BEC-8373-4EC6-ACB5-6F096B712943}" dt="2025-12-11T00:28:17.594" v="76" actId="114"/>
        <pc:sldMkLst>
          <pc:docMk/>
          <pc:sldMk cId="0" sldId="256"/>
        </pc:sldMkLst>
        <pc:spChg chg="mod">
          <ac:chgData name="Mark Baligad" userId="706ed0fd76929b24" providerId="LiveId" clId="{DB0A8BEC-8373-4EC6-ACB5-6F096B712943}" dt="2025-12-11T00:28:17.594" v="76" actId="114"/>
          <ac:spMkLst>
            <pc:docMk/>
            <pc:sldMk cId="0" sldId="256"/>
            <ac:spMk id="145" creationId="{00000000-0000-0000-0000-000000000000}"/>
          </ac:spMkLst>
        </pc:spChg>
      </pc:sldChg>
      <pc:sldChg chg="modSp mod">
        <pc:chgData name="Mark Baligad" userId="706ed0fd76929b24" providerId="LiveId" clId="{DB0A8BEC-8373-4EC6-ACB5-6F096B712943}" dt="2025-12-13T19:24:22.218" v="3347" actId="20577"/>
        <pc:sldMkLst>
          <pc:docMk/>
          <pc:sldMk cId="0" sldId="257"/>
        </pc:sldMkLst>
        <pc:spChg chg="mod">
          <ac:chgData name="Mark Baligad" userId="706ed0fd76929b24" providerId="LiveId" clId="{DB0A8BEC-8373-4EC6-ACB5-6F096B712943}" dt="2025-12-13T19:24:22.218" v="3347" actId="20577"/>
          <ac:spMkLst>
            <pc:docMk/>
            <pc:sldMk cId="0" sldId="257"/>
            <ac:spMk id="152" creationId="{00000000-0000-0000-0000-000000000000}"/>
          </ac:spMkLst>
        </pc:spChg>
        <pc:picChg chg="mod">
          <ac:chgData name="Mark Baligad" userId="706ed0fd76929b24" providerId="LiveId" clId="{DB0A8BEC-8373-4EC6-ACB5-6F096B712943}" dt="2025-12-11T00:24:31.397" v="33" actId="1076"/>
          <ac:picMkLst>
            <pc:docMk/>
            <pc:sldMk cId="0" sldId="257"/>
            <ac:picMk id="153" creationId="{00000000-0000-0000-0000-000000000000}"/>
          </ac:picMkLst>
        </pc:picChg>
      </pc:sldChg>
      <pc:sldChg chg="addSp delSp modSp del mod">
        <pc:chgData name="Mark Baligad" userId="706ed0fd76929b24" providerId="LiveId" clId="{DB0A8BEC-8373-4EC6-ACB5-6F096B712943}" dt="2025-12-13T01:01:17.969" v="1807" actId="2696"/>
        <pc:sldMkLst>
          <pc:docMk/>
          <pc:sldMk cId="0" sldId="258"/>
        </pc:sldMkLst>
        <pc:graphicFrameChg chg="add mod modGraphic">
          <ac:chgData name="Mark Baligad" userId="706ed0fd76929b24" providerId="LiveId" clId="{DB0A8BEC-8373-4EC6-ACB5-6F096B712943}" dt="2025-12-13T00:57:10.916" v="1573" actId="21"/>
          <ac:graphicFrameMkLst>
            <pc:docMk/>
            <pc:sldMk cId="0" sldId="258"/>
            <ac:graphicFrameMk id="4" creationId="{475B5CA5-31D6-3119-38E7-C808AC23259B}"/>
          </ac:graphicFrameMkLst>
        </pc:graphicFrameChg>
      </pc:sldChg>
      <pc:sldChg chg="addSp delSp modSp mod">
        <pc:chgData name="Mark Baligad" userId="706ed0fd76929b24" providerId="LiveId" clId="{DB0A8BEC-8373-4EC6-ACB5-6F096B712943}" dt="2025-12-11T23:07:54.426" v="694" actId="207"/>
        <pc:sldMkLst>
          <pc:docMk/>
          <pc:sldMk cId="0" sldId="259"/>
        </pc:sldMkLst>
        <pc:graphicFrameChg chg="add mod modGraphic">
          <ac:chgData name="Mark Baligad" userId="706ed0fd76929b24" providerId="LiveId" clId="{DB0A8BEC-8373-4EC6-ACB5-6F096B712943}" dt="2025-12-11T23:07:54.426" v="694" actId="207"/>
          <ac:graphicFrameMkLst>
            <pc:docMk/>
            <pc:sldMk cId="0" sldId="259"/>
            <ac:graphicFrameMk id="2" creationId="{DD13DE57-5E10-3223-FFC4-6508D7D97D5D}"/>
          </ac:graphicFrameMkLst>
        </pc:graphicFrameChg>
      </pc:sldChg>
      <pc:sldChg chg="addSp delSp modSp mod">
        <pc:chgData name="Mark Baligad" userId="706ed0fd76929b24" providerId="LiveId" clId="{DB0A8BEC-8373-4EC6-ACB5-6F096B712943}" dt="2025-12-13T01:15:17.767" v="1881" actId="14100"/>
        <pc:sldMkLst>
          <pc:docMk/>
          <pc:sldMk cId="0" sldId="260"/>
        </pc:sldMkLst>
        <pc:graphicFrameChg chg="add mod modGraphic">
          <ac:chgData name="Mark Baligad" userId="706ed0fd76929b24" providerId="LiveId" clId="{DB0A8BEC-8373-4EC6-ACB5-6F096B712943}" dt="2025-12-13T01:15:17.767" v="1881" actId="14100"/>
          <ac:graphicFrameMkLst>
            <pc:docMk/>
            <pc:sldMk cId="0" sldId="260"/>
            <ac:graphicFrameMk id="2" creationId="{4D4A8340-366F-6EC0-0758-9552E135A9FA}"/>
          </ac:graphicFrameMkLst>
        </pc:graphicFrameChg>
      </pc:sldChg>
      <pc:sldChg chg="addSp delSp modSp mod">
        <pc:chgData name="Mark Baligad" userId="706ed0fd76929b24" providerId="LiveId" clId="{DB0A8BEC-8373-4EC6-ACB5-6F096B712943}" dt="2025-12-13T01:36:30.035" v="2457" actId="12"/>
        <pc:sldMkLst>
          <pc:docMk/>
          <pc:sldMk cId="0" sldId="261"/>
        </pc:sldMkLst>
        <pc:graphicFrameChg chg="add mod modGraphic">
          <ac:chgData name="Mark Baligad" userId="706ed0fd76929b24" providerId="LiveId" clId="{DB0A8BEC-8373-4EC6-ACB5-6F096B712943}" dt="2025-12-13T01:36:30.035" v="2457" actId="12"/>
          <ac:graphicFrameMkLst>
            <pc:docMk/>
            <pc:sldMk cId="0" sldId="261"/>
            <ac:graphicFrameMk id="4" creationId="{6D099643-7E8F-A015-B506-0F9E1EE972B9}"/>
          </ac:graphicFrameMkLst>
        </pc:graphicFrameChg>
      </pc:sldChg>
      <pc:sldChg chg="addSp delSp modSp mod">
        <pc:chgData name="Mark Baligad" userId="706ed0fd76929b24" providerId="LiveId" clId="{DB0A8BEC-8373-4EC6-ACB5-6F096B712943}" dt="2025-12-13T01:16:38.348" v="1915" actId="20577"/>
        <pc:sldMkLst>
          <pc:docMk/>
          <pc:sldMk cId="0" sldId="262"/>
        </pc:sldMkLst>
        <pc:graphicFrameChg chg="add mod modGraphic">
          <ac:chgData name="Mark Baligad" userId="706ed0fd76929b24" providerId="LiveId" clId="{DB0A8BEC-8373-4EC6-ACB5-6F096B712943}" dt="2025-12-13T01:16:38.348" v="1915" actId="20577"/>
          <ac:graphicFrameMkLst>
            <pc:docMk/>
            <pc:sldMk cId="0" sldId="262"/>
            <ac:graphicFrameMk id="2" creationId="{44AC0836-DF04-8899-9B6B-EA9FA311A827}"/>
          </ac:graphicFrameMkLst>
        </pc:graphicFrameChg>
      </pc:sldChg>
      <pc:sldChg chg="addSp modSp mod">
        <pc:chgData name="Mark Baligad" userId="706ed0fd76929b24" providerId="LiveId" clId="{DB0A8BEC-8373-4EC6-ACB5-6F096B712943}" dt="2025-12-11T23:42:48.075" v="1501" actId="1076"/>
        <pc:sldMkLst>
          <pc:docMk/>
          <pc:sldMk cId="0" sldId="263"/>
        </pc:sldMkLst>
        <pc:spChg chg="mod">
          <ac:chgData name="Mark Baligad" userId="706ed0fd76929b24" providerId="LiveId" clId="{DB0A8BEC-8373-4EC6-ACB5-6F096B712943}" dt="2025-12-11T23:18:07.038" v="827" actId="14100"/>
          <ac:spMkLst>
            <pc:docMk/>
            <pc:sldMk cId="0" sldId="263"/>
            <ac:spMk id="195" creationId="{00000000-0000-0000-0000-000000000000}"/>
          </ac:spMkLst>
        </pc:spChg>
        <pc:spChg chg="mod">
          <ac:chgData name="Mark Baligad" userId="706ed0fd76929b24" providerId="LiveId" clId="{DB0A8BEC-8373-4EC6-ACB5-6F096B712943}" dt="2025-12-11T23:38:27.170" v="1150" actId="20577"/>
          <ac:spMkLst>
            <pc:docMk/>
            <pc:sldMk cId="0" sldId="263"/>
            <ac:spMk id="196" creationId="{00000000-0000-0000-0000-000000000000}"/>
          </ac:spMkLst>
        </pc:spChg>
        <pc:picChg chg="add mod">
          <ac:chgData name="Mark Baligad" userId="706ed0fd76929b24" providerId="LiveId" clId="{DB0A8BEC-8373-4EC6-ACB5-6F096B712943}" dt="2025-12-11T23:42:48.075" v="1501" actId="1076"/>
          <ac:picMkLst>
            <pc:docMk/>
            <pc:sldMk cId="0" sldId="263"/>
            <ac:picMk id="3" creationId="{AC6E912F-A207-B46F-6A55-71E2260761ED}"/>
          </ac:picMkLst>
        </pc:picChg>
        <pc:picChg chg="add mod">
          <ac:chgData name="Mark Baligad" userId="706ed0fd76929b24" providerId="LiveId" clId="{DB0A8BEC-8373-4EC6-ACB5-6F096B712943}" dt="2025-12-11T23:42:44.019" v="1500" actId="1076"/>
          <ac:picMkLst>
            <pc:docMk/>
            <pc:sldMk cId="0" sldId="263"/>
            <ac:picMk id="5" creationId="{C0407DF5-162C-1202-26FB-FDD55273F77C}"/>
          </ac:picMkLst>
        </pc:picChg>
      </pc:sldChg>
      <pc:sldChg chg="addSp delSp modSp mod">
        <pc:chgData name="Mark Baligad" userId="706ed0fd76929b24" providerId="LiveId" clId="{DB0A8BEC-8373-4EC6-ACB5-6F096B712943}" dt="2025-12-13T01:32:33.844" v="2274" actId="207"/>
        <pc:sldMkLst>
          <pc:docMk/>
          <pc:sldMk cId="0" sldId="265"/>
        </pc:sldMkLst>
        <pc:spChg chg="add del mod">
          <ac:chgData name="Mark Baligad" userId="706ed0fd76929b24" providerId="LiveId" clId="{DB0A8BEC-8373-4EC6-ACB5-6F096B712943}" dt="2025-12-13T01:21:15.398" v="2057" actId="478"/>
          <ac:spMkLst>
            <pc:docMk/>
            <pc:sldMk cId="0" sldId="265"/>
            <ac:spMk id="4" creationId="{C14A8409-7571-444E-0EC7-BD359B5D5B52}"/>
          </ac:spMkLst>
        </pc:spChg>
        <pc:spChg chg="del">
          <ac:chgData name="Mark Baligad" userId="706ed0fd76929b24" providerId="LiveId" clId="{DB0A8BEC-8373-4EC6-ACB5-6F096B712943}" dt="2025-12-13T01:21:12.425" v="2056" actId="478"/>
          <ac:spMkLst>
            <pc:docMk/>
            <pc:sldMk cId="0" sldId="265"/>
            <ac:spMk id="210" creationId="{00000000-0000-0000-0000-000000000000}"/>
          </ac:spMkLst>
        </pc:spChg>
        <pc:graphicFrameChg chg="add mod modGraphic">
          <ac:chgData name="Mark Baligad" userId="706ed0fd76929b24" providerId="LiveId" clId="{DB0A8BEC-8373-4EC6-ACB5-6F096B712943}" dt="2025-12-13T01:32:33.844" v="2274" actId="207"/>
          <ac:graphicFrameMkLst>
            <pc:docMk/>
            <pc:sldMk cId="0" sldId="265"/>
            <ac:graphicFrameMk id="2" creationId="{80762F46-214A-A8C5-6218-27CEB0ACB0CE}"/>
          </ac:graphicFrameMkLst>
        </pc:graphicFrameChg>
      </pc:sldChg>
      <pc:sldChg chg="addSp delSp modSp mod">
        <pc:chgData name="Mark Baligad" userId="706ed0fd76929b24" providerId="LiveId" clId="{DB0A8BEC-8373-4EC6-ACB5-6F096B712943}" dt="2025-12-13T01:41:09.649" v="2883" actId="20577"/>
        <pc:sldMkLst>
          <pc:docMk/>
          <pc:sldMk cId="0" sldId="266"/>
        </pc:sldMkLst>
        <pc:spChg chg="add del mod">
          <ac:chgData name="Mark Baligad" userId="706ed0fd76929b24" providerId="LiveId" clId="{DB0A8BEC-8373-4EC6-ACB5-6F096B712943}" dt="2025-12-13T01:31:44.798" v="2267" actId="478"/>
          <ac:spMkLst>
            <pc:docMk/>
            <pc:sldMk cId="0" sldId="266"/>
            <ac:spMk id="4" creationId="{E016F4B0-7FF4-1617-FE5E-58A0D91D8C97}"/>
          </ac:spMkLst>
        </pc:spChg>
        <pc:spChg chg="del mod">
          <ac:chgData name="Mark Baligad" userId="706ed0fd76929b24" providerId="LiveId" clId="{DB0A8BEC-8373-4EC6-ACB5-6F096B712943}" dt="2025-12-13T01:31:42.468" v="2266" actId="478"/>
          <ac:spMkLst>
            <pc:docMk/>
            <pc:sldMk cId="0" sldId="266"/>
            <ac:spMk id="217" creationId="{00000000-0000-0000-0000-000000000000}"/>
          </ac:spMkLst>
        </pc:spChg>
        <pc:graphicFrameChg chg="add mod modGraphic">
          <ac:chgData name="Mark Baligad" userId="706ed0fd76929b24" providerId="LiveId" clId="{DB0A8BEC-8373-4EC6-ACB5-6F096B712943}" dt="2025-12-13T01:41:09.649" v="2883" actId="20577"/>
          <ac:graphicFrameMkLst>
            <pc:docMk/>
            <pc:sldMk cId="0" sldId="266"/>
            <ac:graphicFrameMk id="2" creationId="{48BB26AF-4EB9-5A4E-88C8-34122E4CBBD7}"/>
          </ac:graphicFrameMkLst>
        </pc:graphicFrameChg>
      </pc:sldChg>
      <pc:sldChg chg="addSp delSp modSp mod">
        <pc:chgData name="Mark Baligad" userId="706ed0fd76929b24" providerId="LiveId" clId="{DB0A8BEC-8373-4EC6-ACB5-6F096B712943}" dt="2025-12-13T02:05:02.843" v="2896" actId="20577"/>
        <pc:sldMkLst>
          <pc:docMk/>
          <pc:sldMk cId="0" sldId="267"/>
        </pc:sldMkLst>
        <pc:spChg chg="add mod">
          <ac:chgData name="Mark Baligad" userId="706ed0fd76929b24" providerId="LiveId" clId="{DB0A8BEC-8373-4EC6-ACB5-6F096B712943}" dt="2025-12-13T02:05:02.843" v="2896" actId="20577"/>
          <ac:spMkLst>
            <pc:docMk/>
            <pc:sldMk cId="0" sldId="267"/>
            <ac:spMk id="2" creationId="{CB180596-634B-9EAF-50C1-792A6367E048}"/>
          </ac:spMkLst>
        </pc:spChg>
        <pc:spChg chg="del mod">
          <ac:chgData name="Mark Baligad" userId="706ed0fd76929b24" providerId="LiveId" clId="{DB0A8BEC-8373-4EC6-ACB5-6F096B712943}" dt="2025-12-13T02:04:38.522" v="2887"/>
          <ac:spMkLst>
            <pc:docMk/>
            <pc:sldMk cId="0" sldId="267"/>
            <ac:spMk id="224" creationId="{00000000-0000-0000-0000-000000000000}"/>
          </ac:spMkLst>
        </pc:spChg>
      </pc:sldChg>
      <pc:sldChg chg="addSp delSp modSp mod">
        <pc:chgData name="Mark Baligad" userId="706ed0fd76929b24" providerId="LiveId" clId="{DB0A8BEC-8373-4EC6-ACB5-6F096B712943}" dt="2025-12-13T02:07:10.454" v="2905" actId="12"/>
        <pc:sldMkLst>
          <pc:docMk/>
          <pc:sldMk cId="0" sldId="268"/>
        </pc:sldMkLst>
        <pc:spChg chg="add mod">
          <ac:chgData name="Mark Baligad" userId="706ed0fd76929b24" providerId="LiveId" clId="{DB0A8BEC-8373-4EC6-ACB5-6F096B712943}" dt="2025-12-13T02:07:10.454" v="2905" actId="12"/>
          <ac:spMkLst>
            <pc:docMk/>
            <pc:sldMk cId="0" sldId="268"/>
            <ac:spMk id="2" creationId="{3C5F1187-2265-00DD-A164-261EA6F5F786}"/>
          </ac:spMkLst>
        </pc:spChg>
        <pc:spChg chg="del mod">
          <ac:chgData name="Mark Baligad" userId="706ed0fd76929b24" providerId="LiveId" clId="{DB0A8BEC-8373-4EC6-ACB5-6F096B712943}" dt="2025-12-13T02:06:33.906" v="2898"/>
          <ac:spMkLst>
            <pc:docMk/>
            <pc:sldMk cId="0" sldId="268"/>
            <ac:spMk id="231" creationId="{00000000-0000-0000-0000-000000000000}"/>
          </ac:spMkLst>
        </pc:spChg>
      </pc:sldChg>
      <pc:sldChg chg="addSp modSp mod">
        <pc:chgData name="Mark Baligad" userId="706ed0fd76929b24" providerId="LiveId" clId="{DB0A8BEC-8373-4EC6-ACB5-6F096B712943}" dt="2025-12-13T03:13:48.445" v="2927" actId="20577"/>
        <pc:sldMkLst>
          <pc:docMk/>
          <pc:sldMk cId="0" sldId="269"/>
        </pc:sldMkLst>
        <pc:spChg chg="add">
          <ac:chgData name="Mark Baligad" userId="706ed0fd76929b24" providerId="LiveId" clId="{DB0A8BEC-8373-4EC6-ACB5-6F096B712943}" dt="2025-12-13T03:01:21.610" v="2911"/>
          <ac:spMkLst>
            <pc:docMk/>
            <pc:sldMk cId="0" sldId="269"/>
            <ac:spMk id="2" creationId="{2F02C9FD-8FAF-FF82-B10B-69C350E6BEFD}"/>
          </ac:spMkLst>
        </pc:spChg>
        <pc:spChg chg="mod">
          <ac:chgData name="Mark Baligad" userId="706ed0fd76929b24" providerId="LiveId" clId="{DB0A8BEC-8373-4EC6-ACB5-6F096B712943}" dt="2025-12-13T03:13:48.445" v="2927" actId="20577"/>
          <ac:spMkLst>
            <pc:docMk/>
            <pc:sldMk cId="0" sldId="269"/>
            <ac:spMk id="238" creationId="{00000000-0000-0000-0000-000000000000}"/>
          </ac:spMkLst>
        </pc:spChg>
      </pc:sldChg>
      <pc:sldChg chg="modSp add mod">
        <pc:chgData name="Mark Baligad" userId="706ed0fd76929b24" providerId="LiveId" clId="{DB0A8BEC-8373-4EC6-ACB5-6F096B712943}" dt="2025-12-11T23:07:46.477" v="693" actId="207"/>
        <pc:sldMkLst>
          <pc:docMk/>
          <pc:sldMk cId="2812300967" sldId="270"/>
        </pc:sldMkLst>
        <pc:graphicFrameChg chg="mod modGraphic">
          <ac:chgData name="Mark Baligad" userId="706ed0fd76929b24" providerId="LiveId" clId="{DB0A8BEC-8373-4EC6-ACB5-6F096B712943}" dt="2025-12-11T23:07:46.477" v="693" actId="207"/>
          <ac:graphicFrameMkLst>
            <pc:docMk/>
            <pc:sldMk cId="2812300967" sldId="270"/>
            <ac:graphicFrameMk id="2" creationId="{A5DDD111-9D57-51F4-FC2B-B88644A81FFD}"/>
          </ac:graphicFrameMkLst>
        </pc:graphicFrameChg>
      </pc:sldChg>
      <pc:sldChg chg="addSp modSp add mod">
        <pc:chgData name="Mark Baligad" userId="706ed0fd76929b24" providerId="LiveId" clId="{DB0A8BEC-8373-4EC6-ACB5-6F096B712943}" dt="2025-12-11T23:43:22.818" v="1508" actId="1076"/>
        <pc:sldMkLst>
          <pc:docMk/>
          <pc:sldMk cId="3379227477" sldId="271"/>
        </pc:sldMkLst>
        <pc:spChg chg="mod">
          <ac:chgData name="Mark Baligad" userId="706ed0fd76929b24" providerId="LiveId" clId="{DB0A8BEC-8373-4EC6-ACB5-6F096B712943}" dt="2025-12-11T23:18:49.587" v="834" actId="20577"/>
          <ac:spMkLst>
            <pc:docMk/>
            <pc:sldMk cId="3379227477" sldId="271"/>
            <ac:spMk id="195" creationId="{0D72C9AB-5BDA-0D35-F692-92B80C4695C5}"/>
          </ac:spMkLst>
        </pc:spChg>
        <pc:spChg chg="mod">
          <ac:chgData name="Mark Baligad" userId="706ed0fd76929b24" providerId="LiveId" clId="{DB0A8BEC-8373-4EC6-ACB5-6F096B712943}" dt="2025-12-11T23:39:14.194" v="1257" actId="20577"/>
          <ac:spMkLst>
            <pc:docMk/>
            <pc:sldMk cId="3379227477" sldId="271"/>
            <ac:spMk id="196" creationId="{D5F5325D-6376-FAA9-B67A-CF8B7B8D2708}"/>
          </ac:spMkLst>
        </pc:spChg>
        <pc:picChg chg="add mod">
          <ac:chgData name="Mark Baligad" userId="706ed0fd76929b24" providerId="LiveId" clId="{DB0A8BEC-8373-4EC6-ACB5-6F096B712943}" dt="2025-12-11T23:43:22.818" v="1508" actId="1076"/>
          <ac:picMkLst>
            <pc:docMk/>
            <pc:sldMk cId="3379227477" sldId="271"/>
            <ac:picMk id="3" creationId="{6353185B-0BA6-8641-8561-53E425D646CC}"/>
          </ac:picMkLst>
        </pc:picChg>
        <pc:picChg chg="add mod">
          <ac:chgData name="Mark Baligad" userId="706ed0fd76929b24" providerId="LiveId" clId="{DB0A8BEC-8373-4EC6-ACB5-6F096B712943}" dt="2025-12-11T23:43:18.937" v="1507" actId="1076"/>
          <ac:picMkLst>
            <pc:docMk/>
            <pc:sldMk cId="3379227477" sldId="271"/>
            <ac:picMk id="5" creationId="{65A0090F-972C-0FBE-7DD3-DB4D3A63CDCB}"/>
          </ac:picMkLst>
        </pc:picChg>
      </pc:sldChg>
      <pc:sldChg chg="addSp modSp add mod">
        <pc:chgData name="Mark Baligad" userId="706ed0fd76929b24" providerId="LiveId" clId="{DB0A8BEC-8373-4EC6-ACB5-6F096B712943}" dt="2025-12-11T23:43:53.717" v="1515" actId="1076"/>
        <pc:sldMkLst>
          <pc:docMk/>
          <pc:sldMk cId="1573974241" sldId="272"/>
        </pc:sldMkLst>
        <pc:spChg chg="mod">
          <ac:chgData name="Mark Baligad" userId="706ed0fd76929b24" providerId="LiveId" clId="{DB0A8BEC-8373-4EC6-ACB5-6F096B712943}" dt="2025-12-11T23:19:20.677" v="844" actId="14100"/>
          <ac:spMkLst>
            <pc:docMk/>
            <pc:sldMk cId="1573974241" sldId="272"/>
            <ac:spMk id="195" creationId="{24A22E58-5250-13D5-9087-FB374BF9ED62}"/>
          </ac:spMkLst>
        </pc:spChg>
        <pc:spChg chg="mod">
          <ac:chgData name="Mark Baligad" userId="706ed0fd76929b24" providerId="LiveId" clId="{DB0A8BEC-8373-4EC6-ACB5-6F096B712943}" dt="2025-12-11T23:39:50.903" v="1403" actId="20577"/>
          <ac:spMkLst>
            <pc:docMk/>
            <pc:sldMk cId="1573974241" sldId="272"/>
            <ac:spMk id="196" creationId="{29DA4EF7-FC45-46A4-F69B-F1455D368B9C}"/>
          </ac:spMkLst>
        </pc:spChg>
        <pc:picChg chg="add mod">
          <ac:chgData name="Mark Baligad" userId="706ed0fd76929b24" providerId="LiveId" clId="{DB0A8BEC-8373-4EC6-ACB5-6F096B712943}" dt="2025-12-11T23:43:53.717" v="1515" actId="1076"/>
          <ac:picMkLst>
            <pc:docMk/>
            <pc:sldMk cId="1573974241" sldId="272"/>
            <ac:picMk id="3" creationId="{C8D903A6-D4E9-7E1D-5BD3-889A41B29DB6}"/>
          </ac:picMkLst>
        </pc:picChg>
        <pc:picChg chg="add mod">
          <ac:chgData name="Mark Baligad" userId="706ed0fd76929b24" providerId="LiveId" clId="{DB0A8BEC-8373-4EC6-ACB5-6F096B712943}" dt="2025-12-11T23:43:51.018" v="1514" actId="1076"/>
          <ac:picMkLst>
            <pc:docMk/>
            <pc:sldMk cId="1573974241" sldId="272"/>
            <ac:picMk id="5" creationId="{A6E4F910-63DB-BBBC-584F-EB2AAED6A233}"/>
          </ac:picMkLst>
        </pc:picChg>
      </pc:sldChg>
      <pc:sldChg chg="addSp modSp add mod ord">
        <pc:chgData name="Mark Baligad" userId="706ed0fd76929b24" providerId="LiveId" clId="{DB0A8BEC-8373-4EC6-ACB5-6F096B712943}" dt="2025-12-11T23:37:22.941" v="1065" actId="1076"/>
        <pc:sldMkLst>
          <pc:docMk/>
          <pc:sldMk cId="3183255269" sldId="273"/>
        </pc:sldMkLst>
        <pc:spChg chg="mod">
          <ac:chgData name="Mark Baligad" userId="706ed0fd76929b24" providerId="LiveId" clId="{DB0A8BEC-8373-4EC6-ACB5-6F096B712943}" dt="2025-12-11T23:30:13.490" v="863" actId="20577"/>
          <ac:spMkLst>
            <pc:docMk/>
            <pc:sldMk cId="3183255269" sldId="273"/>
            <ac:spMk id="195" creationId="{4791354F-E037-3045-7C3D-6D64AECFF7F4}"/>
          </ac:spMkLst>
        </pc:spChg>
        <pc:spChg chg="mod">
          <ac:chgData name="Mark Baligad" userId="706ed0fd76929b24" providerId="LiveId" clId="{DB0A8BEC-8373-4EC6-ACB5-6F096B712943}" dt="2025-12-11T23:33:10.940" v="889" actId="20577"/>
          <ac:spMkLst>
            <pc:docMk/>
            <pc:sldMk cId="3183255269" sldId="273"/>
            <ac:spMk id="196" creationId="{06034DA4-5030-A058-AEC2-975EB66671D1}"/>
          </ac:spMkLst>
        </pc:spChg>
        <pc:picChg chg="add mod">
          <ac:chgData name="Mark Baligad" userId="706ed0fd76929b24" providerId="LiveId" clId="{DB0A8BEC-8373-4EC6-ACB5-6F096B712943}" dt="2025-12-11T23:37:01.174" v="1058" actId="1076"/>
          <ac:picMkLst>
            <pc:docMk/>
            <pc:sldMk cId="3183255269" sldId="273"/>
            <ac:picMk id="3" creationId="{61CE3E58-37E2-0034-A272-158A4CD813EC}"/>
          </ac:picMkLst>
        </pc:picChg>
        <pc:picChg chg="add mod">
          <ac:chgData name="Mark Baligad" userId="706ed0fd76929b24" providerId="LiveId" clId="{DB0A8BEC-8373-4EC6-ACB5-6F096B712943}" dt="2025-12-11T23:37:22.941" v="1065" actId="1076"/>
          <ac:picMkLst>
            <pc:docMk/>
            <pc:sldMk cId="3183255269" sldId="273"/>
            <ac:picMk id="5" creationId="{E95CB5B4-2C35-318B-89B0-C4651D2473F3}"/>
          </ac:picMkLst>
        </pc:picChg>
      </pc:sldChg>
      <pc:sldChg chg="addSp modSp add mod">
        <pc:chgData name="Mark Baligad" userId="706ed0fd76929b24" providerId="LiveId" clId="{DB0A8BEC-8373-4EC6-ACB5-6F096B712943}" dt="2025-12-11T23:44:24.779" v="1525" actId="1076"/>
        <pc:sldMkLst>
          <pc:docMk/>
          <pc:sldMk cId="1953348560" sldId="274"/>
        </pc:sldMkLst>
        <pc:spChg chg="mod">
          <ac:chgData name="Mark Baligad" userId="706ed0fd76929b24" providerId="LiveId" clId="{DB0A8BEC-8373-4EC6-ACB5-6F096B712943}" dt="2025-12-11T23:20:01.566" v="851" actId="6549"/>
          <ac:spMkLst>
            <pc:docMk/>
            <pc:sldMk cId="1953348560" sldId="274"/>
            <ac:spMk id="195" creationId="{0E8B72A1-B2C0-2A2A-5ED7-6B548522063C}"/>
          </ac:spMkLst>
        </pc:spChg>
        <pc:spChg chg="mod">
          <ac:chgData name="Mark Baligad" userId="706ed0fd76929b24" providerId="LiveId" clId="{DB0A8BEC-8373-4EC6-ACB5-6F096B712943}" dt="2025-12-11T23:40:43.643" v="1486" actId="20577"/>
          <ac:spMkLst>
            <pc:docMk/>
            <pc:sldMk cId="1953348560" sldId="274"/>
            <ac:spMk id="196" creationId="{04C9A270-F573-99C8-079E-D988EEF94F98}"/>
          </ac:spMkLst>
        </pc:spChg>
        <pc:picChg chg="add mod">
          <ac:chgData name="Mark Baligad" userId="706ed0fd76929b24" providerId="LiveId" clId="{DB0A8BEC-8373-4EC6-ACB5-6F096B712943}" dt="2025-12-11T23:44:24.779" v="1525" actId="1076"/>
          <ac:picMkLst>
            <pc:docMk/>
            <pc:sldMk cId="1953348560" sldId="274"/>
            <ac:picMk id="3" creationId="{FB3AF277-8EA5-0BEA-1820-4277DF7FCBCE}"/>
          </ac:picMkLst>
        </pc:picChg>
        <pc:picChg chg="add mod">
          <ac:chgData name="Mark Baligad" userId="706ed0fd76929b24" providerId="LiveId" clId="{DB0A8BEC-8373-4EC6-ACB5-6F096B712943}" dt="2025-12-11T23:44:22.589" v="1524" actId="1076"/>
          <ac:picMkLst>
            <pc:docMk/>
            <pc:sldMk cId="1953348560" sldId="274"/>
            <ac:picMk id="5" creationId="{B1B62CE6-AA75-2EEF-EB00-7565158582DB}"/>
          </ac:picMkLst>
        </pc:picChg>
      </pc:sldChg>
      <pc:sldChg chg="addSp modSp add mod">
        <pc:chgData name="Mark Baligad" userId="706ed0fd76929b24" providerId="LiveId" clId="{DB0A8BEC-8373-4EC6-ACB5-6F096B712943}" dt="2025-12-11T23:42:13.470" v="1493" actId="1076"/>
        <pc:sldMkLst>
          <pc:docMk/>
          <pc:sldMk cId="2099778576" sldId="275"/>
        </pc:sldMkLst>
        <pc:spChg chg="mod">
          <ac:chgData name="Mark Baligad" userId="706ed0fd76929b24" providerId="LiveId" clId="{DB0A8BEC-8373-4EC6-ACB5-6F096B712943}" dt="2025-12-11T23:38:34.533" v="1171" actId="20577"/>
          <ac:spMkLst>
            <pc:docMk/>
            <pc:sldMk cId="2099778576" sldId="275"/>
            <ac:spMk id="196" creationId="{37B31B96-8863-082B-D429-530BBA3EED62}"/>
          </ac:spMkLst>
        </pc:spChg>
        <pc:picChg chg="add mod">
          <ac:chgData name="Mark Baligad" userId="706ed0fd76929b24" providerId="LiveId" clId="{DB0A8BEC-8373-4EC6-ACB5-6F096B712943}" dt="2025-12-11T23:42:13.470" v="1493" actId="1076"/>
          <ac:picMkLst>
            <pc:docMk/>
            <pc:sldMk cId="2099778576" sldId="275"/>
            <ac:picMk id="3" creationId="{EACDBD70-91CD-1340-9DFB-C4548C8A4168}"/>
          </ac:picMkLst>
        </pc:picChg>
        <pc:picChg chg="add mod">
          <ac:chgData name="Mark Baligad" userId="706ed0fd76929b24" providerId="LiveId" clId="{DB0A8BEC-8373-4EC6-ACB5-6F096B712943}" dt="2025-12-11T23:42:11.109" v="1492" actId="1076"/>
          <ac:picMkLst>
            <pc:docMk/>
            <pc:sldMk cId="2099778576" sldId="275"/>
            <ac:picMk id="5" creationId="{71D35373-B825-5F83-7253-C2A6C41E27E4}"/>
          </ac:picMkLst>
        </pc:picChg>
      </pc:sldChg>
      <pc:sldChg chg="modSp add mod">
        <pc:chgData name="Mark Baligad" userId="706ed0fd76929b24" providerId="LiveId" clId="{DB0A8BEC-8373-4EC6-ACB5-6F096B712943}" dt="2025-12-13T01:01:08.559" v="1806" actId="20577"/>
        <pc:sldMkLst>
          <pc:docMk/>
          <pc:sldMk cId="0" sldId="276"/>
        </pc:sldMkLst>
        <pc:spChg chg="mod">
          <ac:chgData name="Mark Baligad" userId="706ed0fd76929b24" providerId="LiveId" clId="{DB0A8BEC-8373-4EC6-ACB5-6F096B712943}" dt="2025-12-13T01:01:08.559" v="1806" actId="20577"/>
          <ac:spMkLst>
            <pc:docMk/>
            <pc:sldMk cId="0" sldId="276"/>
            <ac:spMk id="160" creationId="{00000000-0000-0000-0000-000000000000}"/>
          </ac:spMkLst>
        </pc:spChg>
        <pc:graphicFrameChg chg="mod modGraphic">
          <ac:chgData name="Mark Baligad" userId="706ed0fd76929b24" providerId="LiveId" clId="{DB0A8BEC-8373-4EC6-ACB5-6F096B712943}" dt="2025-12-13T00:57:16.741" v="1575"/>
          <ac:graphicFrameMkLst>
            <pc:docMk/>
            <pc:sldMk cId="0" sldId="276"/>
            <ac:graphicFrameMk id="161"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a:extLst>
            <a:ext uri="{FF2B5EF4-FFF2-40B4-BE49-F238E27FC236}">
              <a16:creationId xmlns:a16="http://schemas.microsoft.com/office/drawing/2014/main" id="{553B6D51-1361-C49D-3B14-25BC3CE37E08}"/>
            </a:ext>
          </a:extLst>
        </p:cNvPr>
        <p:cNvGrpSpPr/>
        <p:nvPr/>
      </p:nvGrpSpPr>
      <p:grpSpPr>
        <a:xfrm>
          <a:off x="0" y="0"/>
          <a:ext cx="0" cy="0"/>
          <a:chOff x="0" y="0"/>
          <a:chExt cx="0" cy="0"/>
        </a:xfrm>
      </p:grpSpPr>
      <p:sp>
        <p:nvSpPr>
          <p:cNvPr id="164" name="Google Shape;164;p5:notes">
            <a:extLst>
              <a:ext uri="{FF2B5EF4-FFF2-40B4-BE49-F238E27FC236}">
                <a16:creationId xmlns:a16="http://schemas.microsoft.com/office/drawing/2014/main" id="{5559E17C-AD70-F2F7-8F8D-43706B80BFA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a:extLst>
              <a:ext uri="{FF2B5EF4-FFF2-40B4-BE49-F238E27FC236}">
                <a16:creationId xmlns:a16="http://schemas.microsoft.com/office/drawing/2014/main" id="{8DF384A5-D8C8-D78E-F00A-9FE2205213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56252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22942E61-1DE3-C8D7-4D6D-F83C5BF93236}"/>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B88D3249-4FAD-ED9A-1FD9-2FCBAEF9B0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AD668D36-E3A3-1AD7-05C1-B261C387157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15001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F96592EB-4AB8-C89D-A7F7-71A0189EDCFC}"/>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04CFB0A0-8C9C-0B92-72BC-DE85A30AEB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DE48FE33-E76E-84BA-CE58-B7104BEDF4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16946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555EFFC5-C8F1-D4CA-E970-C8FAD624FEEF}"/>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CF075102-C90B-DC32-3BC4-1583B371F6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6384A907-8384-547D-0F12-0D20FE4AA4C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742994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E13B33CF-3461-6DAE-73E6-55E089E0CF13}"/>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3A8311AD-F0AF-66C9-41CB-AF249273F7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3768176D-536C-6AF8-BC47-437057CD615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63959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07CD408E-4E09-6083-3BB9-67BB0FEDC225}"/>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FAD39842-4BB5-877D-04BE-A4F2092DAF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1433FF3F-85E4-DBC7-4213-B4D0E66144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230481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3.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hyperlink" Target="https://www.ftc.gov/business-guidance/resources/start-security-guide-business" TargetMode="External"/><Relationship Id="rId3" Type="http://schemas.openxmlformats.org/officeDocument/2006/relationships/notesSlide" Target="../notesSlides/notesSlide20.xml"/><Relationship Id="rId7" Type="http://schemas.openxmlformats.org/officeDocument/2006/relationships/hyperlink" Target="https://wiki.sei.cmu.edu/confluence/pages/viewpage.action?pageId=88046682" TargetMode="External"/><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hyperlink" Target="https://mbsdirect.vitalsource.com/books/9780132981972" TargetMode="External"/><Relationship Id="rId5" Type="http://schemas.openxmlformats.org/officeDocument/2006/relationships/hyperlink" Target="https://www.youtube.com/watch?v=1bq0MJ5lV5c" TargetMode="External"/><Relationship Id="rId4" Type="http://schemas.openxmlformats.org/officeDocument/2006/relationships/hyperlink" Target="https://linfordco.com/blog/information-security-policies/" TargetMode="Externa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Mark Baligad</a:t>
            </a:r>
          </a:p>
          <a:p>
            <a:pPr marL="0" lvl="0" indent="0" algn="l" rtl="0">
              <a:lnSpc>
                <a:spcPct val="70000"/>
              </a:lnSpc>
              <a:spcBef>
                <a:spcPts val="1000"/>
              </a:spcBef>
              <a:spcAft>
                <a:spcPts val="0"/>
              </a:spcAft>
              <a:buClr>
                <a:schemeClr val="lt1"/>
              </a:buClr>
              <a:buSzPts val="1850"/>
              <a:buNone/>
            </a:pPr>
            <a:r>
              <a:rPr lang="en-US" sz="1850" dirty="0"/>
              <a:t>CS 405 Secure Coding</a:t>
            </a:r>
          </a:p>
          <a:p>
            <a:pPr marL="0" lvl="0" indent="0" algn="l" rtl="0">
              <a:lnSpc>
                <a:spcPct val="70000"/>
              </a:lnSpc>
              <a:spcBef>
                <a:spcPts val="1000"/>
              </a:spcBef>
              <a:spcAft>
                <a:spcPts val="0"/>
              </a:spcAft>
              <a:buClr>
                <a:schemeClr val="lt1"/>
              </a:buClr>
              <a:buSzPts val="1850"/>
              <a:buNone/>
            </a:pPr>
            <a:r>
              <a:rPr lang="en-US" sz="1850" dirty="0"/>
              <a:t>12/14/2025</a:t>
            </a:r>
            <a:endParaRPr dirty="0"/>
          </a:p>
          <a:p>
            <a:pPr marL="0" lvl="0" indent="0" algn="l" rtl="0">
              <a:lnSpc>
                <a:spcPct val="70000"/>
              </a:lnSpc>
              <a:spcBef>
                <a:spcPts val="1000"/>
              </a:spcBef>
              <a:spcAft>
                <a:spcPts val="0"/>
              </a:spcAft>
              <a:buClr>
                <a:schemeClr val="lt1"/>
              </a:buClr>
              <a:buSzPts val="1850"/>
              <a:buNone/>
            </a:pPr>
            <a:endParaRPr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sp>
        <p:nvSpPr>
          <p:cNvPr id="152" name="Google Shape;152;p3"/>
          <p:cNvSpPr txBox="1">
            <a:spLocks noGrp="1"/>
          </p:cNvSpPr>
          <p:nvPr>
            <p:ph type="body" idx="1"/>
          </p:nvPr>
        </p:nvSpPr>
        <p:spPr>
          <a:xfrm>
            <a:off x="221325" y="1944788"/>
            <a:ext cx="5062317" cy="4273898"/>
          </a:xfrm>
          <a:prstGeom prst="rect">
            <a:avLst/>
          </a:prstGeom>
          <a:noFill/>
          <a:ln>
            <a:noFill/>
          </a:ln>
        </p:spPr>
        <p:txBody>
          <a:bodyPr spcFirstLastPara="1" wrap="square" lIns="91425" tIns="45700" rIns="91425" bIns="45700" anchor="t" anchorCtr="0">
            <a:normAutofit lnSpcReduction="10000"/>
          </a:bodyPr>
          <a:lstStyle/>
          <a:p>
            <a:pPr marL="1028700">
              <a:spcBef>
                <a:spcPts val="0"/>
              </a:spcBef>
            </a:pPr>
            <a:r>
              <a:rPr lang="en-US" dirty="0"/>
              <a:t>The Security Policy exists to protect the organizations systems, data, and reputation.</a:t>
            </a:r>
          </a:p>
          <a:p>
            <a:pPr marL="1028700">
              <a:spcBef>
                <a:spcPts val="0"/>
              </a:spcBef>
            </a:pPr>
            <a:r>
              <a:rPr lang="en-US" dirty="0"/>
              <a:t>The policy mandates multiple, overlapping security layers so no single failure results in compromise.</a:t>
            </a:r>
          </a:p>
          <a:p>
            <a:pPr marL="1028700">
              <a:spcBef>
                <a:spcPts val="0"/>
              </a:spcBef>
            </a:pPr>
            <a:r>
              <a:rPr lang="en-US" dirty="0"/>
              <a:t>The layered security model focuses on critical assets in the middle, technical enforcement in the inner layers, and organizational resilience in the outer layers.</a:t>
            </a: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5347252" y="1944787"/>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221325" y="2194550"/>
            <a:ext cx="2950575" cy="4024200"/>
          </a:xfrm>
          <a:prstGeom prst="rect">
            <a:avLst/>
          </a:prstGeom>
          <a:noFill/>
          <a:ln>
            <a:noFill/>
          </a:ln>
        </p:spPr>
        <p:txBody>
          <a:bodyPr spcFirstLastPara="1" wrap="square" lIns="91425" tIns="45700" rIns="91425" bIns="45700" anchor="t" anchorCtr="0">
            <a:normAutofit/>
          </a:bodyPr>
          <a:lstStyle/>
          <a:p>
            <a:pPr marL="482600">
              <a:buSzPts val="2200"/>
            </a:pPr>
            <a:r>
              <a:rPr lang="en-US" dirty="0"/>
              <a:t>Priority indicates the order in which vulnerabilities should be addressed.</a:t>
            </a:r>
          </a:p>
          <a:p>
            <a:pPr marL="482600">
              <a:buSzPts val="2200"/>
            </a:pPr>
            <a:r>
              <a:rPr lang="en-US" dirty="0"/>
              <a:t>Likeliness indicates the probability this threat would be exploited by an attacker.</a:t>
            </a:r>
            <a:endParaRPr dirty="0"/>
          </a:p>
        </p:txBody>
      </p:sp>
      <p:graphicFrame>
        <p:nvGraphicFramePr>
          <p:cNvPr id="161" name="Google Shape;161;p4" descr="Alt text required"/>
          <p:cNvGraphicFramePr/>
          <p:nvPr>
            <p:extLst>
              <p:ext uri="{D42A27DB-BD31-4B8C-83A1-F6EECF244321}">
                <p14:modId xmlns:p14="http://schemas.microsoft.com/office/powerpoint/2010/main" val="2944753664"/>
              </p:ext>
            </p:extLst>
          </p:nvPr>
        </p:nvGraphicFramePr>
        <p:xfrm>
          <a:off x="3248849" y="1924946"/>
          <a:ext cx="7835225" cy="445002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Likely</a:t>
                      </a:r>
                      <a:endParaRPr sz="1400" u="none" strike="noStrike" cap="none" dirty="0">
                        <a:solidFill>
                          <a:schemeClr val="tx1"/>
                        </a:solidFill>
                      </a:endParaRPr>
                    </a:p>
                    <a:p>
                      <a:pPr algn="ctr" fontAlgn="b">
                        <a:buNone/>
                      </a:pPr>
                      <a:r>
                        <a:rPr lang="en-US" sz="2800" u="none" strike="noStrike" dirty="0">
                          <a:solidFill>
                            <a:schemeClr val="tx1"/>
                          </a:solidFill>
                          <a:effectLst/>
                        </a:rPr>
                        <a:t>STD-003-CPP</a:t>
                      </a:r>
                      <a:endParaRPr lang="en-US" sz="2800" b="0" i="0" u="none" strike="noStrike" dirty="0">
                        <a:solidFill>
                          <a:schemeClr val="tx1"/>
                        </a:solidFill>
                        <a:effectLst/>
                        <a:latin typeface="Aptos Narrow" panose="020B0004020202020204" pitchFamily="34" charset="0"/>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Priority</a:t>
                      </a:r>
                      <a:endParaRPr sz="1400" u="none" strike="noStrike" cap="none" dirty="0">
                        <a:solidFill>
                          <a:schemeClr val="tx1"/>
                        </a:solidFill>
                      </a:endParaRPr>
                    </a:p>
                    <a:p>
                      <a:pPr marL="0" marR="0" lvl="0" indent="0" algn="ctr" rtl="0">
                        <a:lnSpc>
                          <a:spcPct val="100000"/>
                        </a:lnSpc>
                        <a:spcBef>
                          <a:spcPts val="0"/>
                        </a:spcBef>
                        <a:spcAft>
                          <a:spcPts val="0"/>
                        </a:spcAft>
                        <a:buClr>
                          <a:srgbClr val="000000"/>
                        </a:buClr>
                        <a:buSzPts val="3600"/>
                        <a:buFont typeface="Arial"/>
                        <a:buNone/>
                      </a:pPr>
                      <a:r>
                        <a:rPr lang="en-US" sz="2800" u="none" strike="noStrike" cap="none" dirty="0">
                          <a:solidFill>
                            <a:schemeClr val="tx1"/>
                          </a:solidFill>
                        </a:rPr>
                        <a:t>STD-002-CPP</a:t>
                      </a:r>
                      <a:br>
                        <a:rPr lang="en-US" sz="2800" u="none" strike="noStrike" cap="none" dirty="0">
                          <a:solidFill>
                            <a:schemeClr val="tx1"/>
                          </a:solidFill>
                        </a:rPr>
                      </a:br>
                      <a:r>
                        <a:rPr lang="en-US" sz="2800" u="none" strike="noStrike" cap="none" dirty="0">
                          <a:solidFill>
                            <a:schemeClr val="tx1"/>
                          </a:solidFill>
                        </a:rPr>
                        <a:t>STD-004-CPP</a:t>
                      </a:r>
                      <a:br>
                        <a:rPr lang="en-US" sz="2800" u="none" strike="noStrike" cap="none" dirty="0">
                          <a:solidFill>
                            <a:schemeClr val="tx1"/>
                          </a:solidFill>
                        </a:rPr>
                      </a:br>
                      <a:r>
                        <a:rPr lang="en-US" sz="2800" u="none" strike="noStrike" cap="none" dirty="0">
                          <a:solidFill>
                            <a:schemeClr val="tx1"/>
                          </a:solidFill>
                        </a:rPr>
                        <a:t>STD-005-CPP</a:t>
                      </a:r>
                      <a:br>
                        <a:rPr lang="en-US" sz="2800" u="none" strike="noStrike" cap="none" dirty="0">
                          <a:solidFill>
                            <a:schemeClr val="tx1"/>
                          </a:solidFill>
                        </a:rPr>
                      </a:br>
                      <a:r>
                        <a:rPr lang="en-US" sz="2800" u="none" strike="noStrike" cap="none" dirty="0">
                          <a:solidFill>
                            <a:schemeClr val="tx1"/>
                          </a:solidFill>
                        </a:rPr>
                        <a:t>STD-009-CPP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Low priority</a:t>
                      </a:r>
                      <a:endParaRPr sz="1400" u="none" strike="noStrike" cap="none" dirty="0">
                        <a:solidFill>
                          <a:schemeClr val="tx1"/>
                        </a:solidFill>
                      </a:endParaRPr>
                    </a:p>
                    <a:p>
                      <a:pPr algn="ctr" fontAlgn="b">
                        <a:buNone/>
                      </a:pPr>
                      <a:r>
                        <a:rPr lang="en-US" sz="2800" u="none" strike="noStrike" dirty="0">
                          <a:solidFill>
                            <a:schemeClr val="tx1"/>
                          </a:solidFill>
                          <a:effectLst/>
                        </a:rPr>
                        <a:t>STD-008-CPP</a:t>
                      </a:r>
                    </a:p>
                    <a:p>
                      <a:pPr algn="ctr" fontAlgn="b">
                        <a:buNone/>
                      </a:pPr>
                      <a:r>
                        <a:rPr lang="en-US" sz="2800" u="none" strike="noStrike" dirty="0">
                          <a:solidFill>
                            <a:schemeClr val="tx1"/>
                          </a:solidFill>
                          <a:effectLst/>
                        </a:rPr>
                        <a:t>STD-006-CPP</a:t>
                      </a:r>
                      <a:br>
                        <a:rPr lang="en-US" sz="2800" u="none" strike="noStrike" dirty="0">
                          <a:solidFill>
                            <a:schemeClr val="tx1"/>
                          </a:solidFill>
                          <a:effectLst/>
                        </a:rPr>
                      </a:br>
                      <a:r>
                        <a:rPr lang="en-US" sz="2800" u="none" strike="noStrike" dirty="0">
                          <a:solidFill>
                            <a:schemeClr val="tx1"/>
                          </a:solidFill>
                          <a:effectLst/>
                        </a:rPr>
                        <a:t>STD-010-CPP</a:t>
                      </a:r>
                      <a:endParaRPr lang="en-US" sz="2800" b="0" i="0" u="none" strike="noStrike" dirty="0">
                        <a:solidFill>
                          <a:schemeClr val="tx1"/>
                        </a:solidFill>
                        <a:effectLst/>
                        <a:latin typeface="Aptos Narrow" panose="020B0004020202020204" pitchFamily="34" charset="0"/>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Unlikely</a:t>
                      </a:r>
                      <a:endParaRPr sz="1400" u="none" strike="noStrike" cap="none" dirty="0">
                        <a:solidFill>
                          <a:schemeClr val="tx1"/>
                        </a:solidFill>
                      </a:endParaRPr>
                    </a:p>
                    <a:p>
                      <a:pPr marL="0" marR="0" lvl="0" indent="0" algn="ctr" rtl="0">
                        <a:lnSpc>
                          <a:spcPct val="100000"/>
                        </a:lnSpc>
                        <a:spcBef>
                          <a:spcPts val="0"/>
                        </a:spcBef>
                        <a:spcAft>
                          <a:spcPts val="0"/>
                        </a:spcAft>
                        <a:buClr>
                          <a:srgbClr val="000000"/>
                        </a:buClr>
                        <a:buSzPts val="3600"/>
                        <a:buFont typeface="Arial"/>
                        <a:buNone/>
                      </a:pPr>
                      <a:r>
                        <a:rPr lang="en-US" sz="2800" u="none" strike="noStrike" cap="none" dirty="0">
                          <a:solidFill>
                            <a:schemeClr val="tx1"/>
                          </a:solidFill>
                        </a:rPr>
                        <a:t>STD-001-CPP</a:t>
                      </a:r>
                    </a:p>
                    <a:p>
                      <a:pPr marL="0" marR="0" lvl="0" indent="0" algn="ctr" rtl="0">
                        <a:lnSpc>
                          <a:spcPct val="100000"/>
                        </a:lnSpc>
                        <a:spcBef>
                          <a:spcPts val="0"/>
                        </a:spcBef>
                        <a:spcAft>
                          <a:spcPts val="0"/>
                        </a:spcAft>
                        <a:buClr>
                          <a:srgbClr val="000000"/>
                        </a:buClr>
                        <a:buSzPts val="3600"/>
                        <a:buFont typeface="Arial"/>
                        <a:buNone/>
                      </a:pPr>
                      <a:r>
                        <a:rPr lang="en-US" sz="2800" u="none" strike="noStrike" cap="none" dirty="0">
                          <a:solidFill>
                            <a:schemeClr val="tx1"/>
                          </a:solidFill>
                        </a:rPr>
                        <a:t>STD-007-CPP</a:t>
                      </a:r>
                    </a:p>
                    <a:p>
                      <a:pPr marL="0" marR="0" lvl="0" indent="0" algn="ctr" rtl="0">
                        <a:lnSpc>
                          <a:spcPct val="100000"/>
                        </a:lnSpc>
                        <a:spcBef>
                          <a:spcPts val="0"/>
                        </a:spcBef>
                        <a:spcAft>
                          <a:spcPts val="0"/>
                        </a:spcAft>
                        <a:buClr>
                          <a:srgbClr val="000000"/>
                        </a:buClr>
                        <a:buSzPts val="3600"/>
                        <a:buFont typeface="Arial"/>
                        <a:buNone/>
                      </a:pPr>
                      <a:endParaRPr lang="en-US" sz="2800"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DD13DE57-5E10-3223-FFC4-6508D7D97D5D}"/>
              </a:ext>
            </a:extLst>
          </p:cNvPr>
          <p:cNvGraphicFramePr>
            <a:graphicFrameLocks noGrp="1"/>
          </p:cNvGraphicFramePr>
          <p:nvPr>
            <p:extLst>
              <p:ext uri="{D42A27DB-BD31-4B8C-83A1-F6EECF244321}">
                <p14:modId xmlns:p14="http://schemas.microsoft.com/office/powerpoint/2010/main" val="175892635"/>
              </p:ext>
            </p:extLst>
          </p:nvPr>
        </p:nvGraphicFramePr>
        <p:xfrm>
          <a:off x="685800" y="2057401"/>
          <a:ext cx="10820399" cy="2989817"/>
        </p:xfrm>
        <a:graphic>
          <a:graphicData uri="http://schemas.openxmlformats.org/drawingml/2006/table">
            <a:tbl>
              <a:tblPr firstRow="1" firstCol="1">
                <a:tableStyleId>{802198C4-3087-4945-87E3-76CBB3509B7E}</a:tableStyleId>
              </a:tblPr>
              <a:tblGrid>
                <a:gridCol w="2551527">
                  <a:extLst>
                    <a:ext uri="{9D8B030D-6E8A-4147-A177-3AD203B41FA5}">
                      <a16:colId xmlns:a16="http://schemas.microsoft.com/office/drawing/2014/main" val="2854824132"/>
                    </a:ext>
                  </a:extLst>
                </a:gridCol>
                <a:gridCol w="8268872">
                  <a:extLst>
                    <a:ext uri="{9D8B030D-6E8A-4147-A177-3AD203B41FA5}">
                      <a16:colId xmlns:a16="http://schemas.microsoft.com/office/drawing/2014/main" val="1521697177"/>
                    </a:ext>
                  </a:extLst>
                </a:gridCol>
              </a:tblGrid>
              <a:tr h="135362">
                <a:tc>
                  <a:txBody>
                    <a:bodyPr/>
                    <a:lstStyle/>
                    <a:p>
                      <a:pPr marL="0" marR="0" algn="ctr">
                        <a:buNone/>
                      </a:pPr>
                      <a:r>
                        <a:rPr lang="en-US" sz="1400">
                          <a:solidFill>
                            <a:schemeClr val="bg1"/>
                          </a:solidFill>
                          <a:effectLst/>
                        </a:rPr>
                        <a:t>Principles</a:t>
                      </a:r>
                      <a:endParaRPr lang="en-US" sz="1400">
                        <a:solidFill>
                          <a:schemeClr val="bg1"/>
                        </a:solidFill>
                        <a:effectLst/>
                        <a:latin typeface="Calibri" panose="020F0502020204030204" pitchFamily="34" charset="0"/>
                        <a:ea typeface="Calibri" panose="020F0502020204030204" pitchFamily="34" charset="0"/>
                      </a:endParaRPr>
                    </a:p>
                  </a:txBody>
                  <a:tcPr marL="33943" marR="33943" marT="33943" marB="33943">
                    <a:solidFill>
                      <a:schemeClr val="bg2">
                        <a:lumMod val="75000"/>
                      </a:schemeClr>
                    </a:solidFill>
                  </a:tcPr>
                </a:tc>
                <a:tc>
                  <a:txBody>
                    <a:bodyPr/>
                    <a:lstStyle/>
                    <a:p>
                      <a:pPr marL="0" marR="0" algn="ctr">
                        <a:buNone/>
                      </a:pPr>
                      <a:r>
                        <a:rPr lang="en-US" sz="1400" dirty="0">
                          <a:solidFill>
                            <a:schemeClr val="bg1"/>
                          </a:solidFill>
                          <a:effectLst/>
                        </a:rPr>
                        <a:t>Description</a:t>
                      </a:r>
                      <a:endParaRPr lang="en-US" sz="1400" dirty="0">
                        <a:solidFill>
                          <a:schemeClr val="bg1"/>
                        </a:solidFill>
                        <a:effectLst/>
                        <a:latin typeface="Calibri" panose="020F0502020204030204" pitchFamily="34" charset="0"/>
                        <a:ea typeface="Calibri" panose="020F0502020204030204" pitchFamily="34" charset="0"/>
                      </a:endParaRPr>
                    </a:p>
                  </a:txBody>
                  <a:tcPr marL="33943" marR="33943" marT="33943" marB="33943">
                    <a:solidFill>
                      <a:schemeClr val="bg2">
                        <a:lumMod val="75000"/>
                      </a:schemeClr>
                    </a:solidFill>
                  </a:tcPr>
                </a:tc>
                <a:extLst>
                  <a:ext uri="{0D108BD9-81ED-4DB2-BD59-A6C34878D82A}">
                    <a16:rowId xmlns:a16="http://schemas.microsoft.com/office/drawing/2014/main" val="2500201601"/>
                  </a:ext>
                </a:extLst>
              </a:tr>
              <a:tr h="551788">
                <a:tc>
                  <a:txBody>
                    <a:bodyPr/>
                    <a:lstStyle/>
                    <a:p>
                      <a:pPr marL="0" marR="0" lvl="0" indent="0">
                        <a:buFont typeface="+mj-lt"/>
                        <a:buNone/>
                      </a:pPr>
                      <a:r>
                        <a:rPr lang="en-US" sz="1400" dirty="0">
                          <a:solidFill>
                            <a:schemeClr val="bg1"/>
                          </a:solidFill>
                          <a:effectLst/>
                        </a:rPr>
                        <a:t>1. Validate Input Data</a:t>
                      </a:r>
                      <a:endParaRPr lang="en-US" sz="1400" dirty="0">
                        <a:solidFill>
                          <a:schemeClr val="bg1"/>
                        </a:solidFill>
                        <a:effectLst/>
                        <a:latin typeface="Calibri" panose="020F0502020204030204" pitchFamily="34" charset="0"/>
                        <a:ea typeface="Calibri" panose="020F0502020204030204" pitchFamily="34" charset="0"/>
                      </a:endParaRPr>
                    </a:p>
                  </a:txBody>
                  <a:tcPr marL="33943" marR="33943" marT="33943" marB="33943">
                    <a:solidFill>
                      <a:schemeClr val="bg2">
                        <a:lumMod val="75000"/>
                      </a:schemeClr>
                    </a:solidFill>
                  </a:tcPr>
                </a:tc>
                <a:tc>
                  <a:txBody>
                    <a:bodyPr/>
                    <a:lstStyle/>
                    <a:p>
                      <a:pPr marL="0" marR="0">
                        <a:buNone/>
                      </a:pPr>
                      <a:r>
                        <a:rPr lang="en-US" sz="1400" dirty="0">
                          <a:solidFill>
                            <a:schemeClr val="bg1"/>
                          </a:solidFill>
                          <a:effectLst/>
                        </a:rPr>
                        <a:t>Ensure all incoming data is checked and safe before use to prevent issues such as injection or buffer overflow.</a:t>
                      </a:r>
                      <a:endParaRPr lang="en-US" sz="1400" dirty="0">
                        <a:solidFill>
                          <a:schemeClr val="bg1"/>
                        </a:solidFill>
                        <a:effectLst/>
                        <a:latin typeface="Calibri" panose="020F0502020204030204" pitchFamily="34" charset="0"/>
                        <a:ea typeface="Calibri" panose="020F0502020204030204" pitchFamily="34" charset="0"/>
                      </a:endParaRPr>
                    </a:p>
                  </a:txBody>
                  <a:tcPr marL="33943" marR="33943" marT="33943" marB="33943">
                    <a:solidFill>
                      <a:schemeClr val="bg2">
                        <a:lumMod val="75000"/>
                      </a:schemeClr>
                    </a:solidFill>
                  </a:tcPr>
                </a:tc>
                <a:extLst>
                  <a:ext uri="{0D108BD9-81ED-4DB2-BD59-A6C34878D82A}">
                    <a16:rowId xmlns:a16="http://schemas.microsoft.com/office/drawing/2014/main" val="2709167516"/>
                  </a:ext>
                </a:extLst>
              </a:tr>
              <a:tr h="500796">
                <a:tc>
                  <a:txBody>
                    <a:bodyPr/>
                    <a:lstStyle/>
                    <a:p>
                      <a:pPr marL="0" marR="0" lvl="0" indent="0">
                        <a:buFont typeface="+mj-lt"/>
                        <a:buNone/>
                      </a:pPr>
                      <a:r>
                        <a:rPr lang="en-US" sz="1400" dirty="0">
                          <a:solidFill>
                            <a:schemeClr val="bg1"/>
                          </a:solidFill>
                          <a:effectLst/>
                        </a:rPr>
                        <a:t>2. Heed Compiler Warnings</a:t>
                      </a:r>
                      <a:endParaRPr lang="en-US" sz="1400" dirty="0">
                        <a:solidFill>
                          <a:schemeClr val="bg1"/>
                        </a:solidFill>
                        <a:effectLst/>
                        <a:latin typeface="Calibri" panose="020F0502020204030204" pitchFamily="34" charset="0"/>
                        <a:ea typeface="Calibri" panose="020F0502020204030204" pitchFamily="34" charset="0"/>
                      </a:endParaRPr>
                    </a:p>
                  </a:txBody>
                  <a:tcPr marL="33943" marR="33943" marT="33943" marB="33943">
                    <a:solidFill>
                      <a:schemeClr val="bg2">
                        <a:lumMod val="75000"/>
                      </a:schemeClr>
                    </a:solidFill>
                  </a:tcPr>
                </a:tc>
                <a:tc>
                  <a:txBody>
                    <a:bodyPr/>
                    <a:lstStyle/>
                    <a:p>
                      <a:pPr marL="0" marR="0">
                        <a:buNone/>
                      </a:pPr>
                      <a:r>
                        <a:rPr lang="en-US" sz="1400" dirty="0">
                          <a:solidFill>
                            <a:schemeClr val="bg1"/>
                          </a:solidFill>
                          <a:effectLst/>
                        </a:rPr>
                        <a:t>Fix compiler warnings early to avoid vulnerabilities.</a:t>
                      </a:r>
                      <a:endParaRPr lang="en-US" sz="1400" dirty="0">
                        <a:solidFill>
                          <a:schemeClr val="bg1"/>
                        </a:solidFill>
                        <a:effectLst/>
                        <a:latin typeface="Calibri" panose="020F0502020204030204" pitchFamily="34" charset="0"/>
                        <a:ea typeface="Calibri" panose="020F0502020204030204" pitchFamily="34" charset="0"/>
                      </a:endParaRPr>
                    </a:p>
                  </a:txBody>
                  <a:tcPr marL="33943" marR="33943" marT="33943" marB="33943">
                    <a:solidFill>
                      <a:schemeClr val="bg2">
                        <a:lumMod val="75000"/>
                      </a:schemeClr>
                    </a:solidFill>
                  </a:tcPr>
                </a:tc>
                <a:extLst>
                  <a:ext uri="{0D108BD9-81ED-4DB2-BD59-A6C34878D82A}">
                    <a16:rowId xmlns:a16="http://schemas.microsoft.com/office/drawing/2014/main" val="3946606307"/>
                  </a:ext>
                </a:extLst>
              </a:tr>
              <a:tr h="666775">
                <a:tc>
                  <a:txBody>
                    <a:bodyPr/>
                    <a:lstStyle/>
                    <a:p>
                      <a:pPr marL="0" marR="0" lvl="0" indent="0">
                        <a:buFont typeface="+mj-lt"/>
                        <a:buNone/>
                      </a:pPr>
                      <a:r>
                        <a:rPr lang="en-US" sz="1400" dirty="0">
                          <a:solidFill>
                            <a:schemeClr val="bg1"/>
                          </a:solidFill>
                          <a:effectLst/>
                        </a:rPr>
                        <a:t>3. Architect and Design for Security Policies</a:t>
                      </a:r>
                      <a:endParaRPr lang="en-US" sz="1400" dirty="0">
                        <a:solidFill>
                          <a:schemeClr val="bg1"/>
                        </a:solidFill>
                        <a:effectLst/>
                        <a:latin typeface="Calibri" panose="020F0502020204030204" pitchFamily="34" charset="0"/>
                        <a:ea typeface="Calibri" panose="020F0502020204030204" pitchFamily="34" charset="0"/>
                      </a:endParaRPr>
                    </a:p>
                  </a:txBody>
                  <a:tcPr marL="33943" marR="33943" marT="33943" marB="33943">
                    <a:solidFill>
                      <a:schemeClr val="bg2">
                        <a:lumMod val="75000"/>
                      </a:schemeClr>
                    </a:solidFill>
                  </a:tcPr>
                </a:tc>
                <a:tc>
                  <a:txBody>
                    <a:bodyPr/>
                    <a:lstStyle/>
                    <a:p>
                      <a:pPr marL="0" marR="0">
                        <a:buNone/>
                      </a:pPr>
                      <a:r>
                        <a:rPr lang="en-US" sz="1400" dirty="0">
                          <a:solidFill>
                            <a:schemeClr val="bg1"/>
                          </a:solidFill>
                          <a:effectLst/>
                        </a:rPr>
                        <a:t>Build security into the system from the start so access, data flow, and threat response remain consistent and controlled.</a:t>
                      </a:r>
                      <a:endParaRPr lang="en-US" sz="1400" dirty="0">
                        <a:solidFill>
                          <a:schemeClr val="bg1"/>
                        </a:solidFill>
                        <a:effectLst/>
                        <a:latin typeface="Calibri" panose="020F0502020204030204" pitchFamily="34" charset="0"/>
                        <a:ea typeface="Calibri" panose="020F0502020204030204" pitchFamily="34" charset="0"/>
                      </a:endParaRPr>
                    </a:p>
                  </a:txBody>
                  <a:tcPr marL="33943" marR="33943" marT="33943" marB="33943">
                    <a:solidFill>
                      <a:schemeClr val="bg2">
                        <a:lumMod val="75000"/>
                      </a:schemeClr>
                    </a:solidFill>
                  </a:tcPr>
                </a:tc>
                <a:extLst>
                  <a:ext uri="{0D108BD9-81ED-4DB2-BD59-A6C34878D82A}">
                    <a16:rowId xmlns:a16="http://schemas.microsoft.com/office/drawing/2014/main" val="862086918"/>
                  </a:ext>
                </a:extLst>
              </a:tr>
              <a:tr h="457807">
                <a:tc>
                  <a:txBody>
                    <a:bodyPr/>
                    <a:lstStyle/>
                    <a:p>
                      <a:pPr marL="0" marR="0" lvl="0" indent="0">
                        <a:buFont typeface="+mj-lt"/>
                        <a:buNone/>
                      </a:pPr>
                      <a:r>
                        <a:rPr lang="en-US" sz="1400" dirty="0">
                          <a:solidFill>
                            <a:schemeClr val="bg1"/>
                          </a:solidFill>
                          <a:effectLst/>
                        </a:rPr>
                        <a:t>4. Keep It Simple</a:t>
                      </a:r>
                      <a:endParaRPr lang="en-US" sz="1400" dirty="0">
                        <a:solidFill>
                          <a:schemeClr val="bg1"/>
                        </a:solidFill>
                        <a:effectLst/>
                        <a:latin typeface="Calibri" panose="020F0502020204030204" pitchFamily="34" charset="0"/>
                        <a:ea typeface="Calibri" panose="020F0502020204030204" pitchFamily="34" charset="0"/>
                      </a:endParaRPr>
                    </a:p>
                  </a:txBody>
                  <a:tcPr marL="33943" marR="33943" marT="33943" marB="33943">
                    <a:solidFill>
                      <a:schemeClr val="bg2">
                        <a:lumMod val="75000"/>
                      </a:schemeClr>
                    </a:solidFill>
                  </a:tcPr>
                </a:tc>
                <a:tc>
                  <a:txBody>
                    <a:bodyPr/>
                    <a:lstStyle/>
                    <a:p>
                      <a:pPr marL="0" marR="0">
                        <a:buNone/>
                      </a:pPr>
                      <a:r>
                        <a:rPr lang="en-US" sz="1400" dirty="0">
                          <a:solidFill>
                            <a:schemeClr val="bg1"/>
                          </a:solidFill>
                          <a:effectLst/>
                        </a:rPr>
                        <a:t>Simple code is easier to secure, test, and maintain. Less complexity reduces chances for errors and hidden vulnerabilities.</a:t>
                      </a:r>
                      <a:endParaRPr lang="en-US" sz="1400" dirty="0">
                        <a:solidFill>
                          <a:schemeClr val="bg1"/>
                        </a:solidFill>
                        <a:effectLst/>
                        <a:latin typeface="Calibri" panose="020F0502020204030204" pitchFamily="34" charset="0"/>
                        <a:ea typeface="Calibri" panose="020F0502020204030204" pitchFamily="34" charset="0"/>
                      </a:endParaRPr>
                    </a:p>
                  </a:txBody>
                  <a:tcPr marL="33943" marR="33943" marT="33943" marB="33943">
                    <a:solidFill>
                      <a:schemeClr val="bg2">
                        <a:lumMod val="75000"/>
                      </a:schemeClr>
                    </a:solidFill>
                  </a:tcPr>
                </a:tc>
                <a:extLst>
                  <a:ext uri="{0D108BD9-81ED-4DB2-BD59-A6C34878D82A}">
                    <a16:rowId xmlns:a16="http://schemas.microsoft.com/office/drawing/2014/main" val="1711559445"/>
                  </a:ext>
                </a:extLst>
              </a:tr>
              <a:tr h="386547">
                <a:tc>
                  <a:txBody>
                    <a:bodyPr/>
                    <a:lstStyle/>
                    <a:p>
                      <a:pPr marL="0" marR="0" lvl="0" indent="0">
                        <a:buFont typeface="+mj-lt"/>
                        <a:buNone/>
                      </a:pPr>
                      <a:r>
                        <a:rPr lang="en-US" sz="1400" dirty="0">
                          <a:solidFill>
                            <a:schemeClr val="bg1"/>
                          </a:solidFill>
                          <a:effectLst/>
                        </a:rPr>
                        <a:t>5. Default Deny</a:t>
                      </a:r>
                      <a:endParaRPr lang="en-US" sz="1400" dirty="0">
                        <a:solidFill>
                          <a:schemeClr val="bg1"/>
                        </a:solidFill>
                        <a:effectLst/>
                        <a:latin typeface="Calibri" panose="020F0502020204030204" pitchFamily="34" charset="0"/>
                        <a:ea typeface="Calibri" panose="020F0502020204030204" pitchFamily="34" charset="0"/>
                      </a:endParaRPr>
                    </a:p>
                  </a:txBody>
                  <a:tcPr marL="33943" marR="33943" marT="33943" marB="33943">
                    <a:solidFill>
                      <a:schemeClr val="bg2">
                        <a:lumMod val="75000"/>
                      </a:schemeClr>
                    </a:solidFill>
                  </a:tcPr>
                </a:tc>
                <a:tc>
                  <a:txBody>
                    <a:bodyPr/>
                    <a:lstStyle/>
                    <a:p>
                      <a:pPr marL="0" marR="0">
                        <a:buNone/>
                      </a:pPr>
                      <a:r>
                        <a:rPr lang="en-US" sz="1400" dirty="0">
                          <a:solidFill>
                            <a:schemeClr val="bg1"/>
                          </a:solidFill>
                          <a:effectLst/>
                        </a:rPr>
                        <a:t>Start with no access granted and open only what is needed. Restrictive defaults reduce exposure and limit attack paths.</a:t>
                      </a:r>
                      <a:endParaRPr lang="en-US" sz="1400" dirty="0">
                        <a:solidFill>
                          <a:schemeClr val="bg1"/>
                        </a:solidFill>
                        <a:effectLst/>
                        <a:latin typeface="Calibri" panose="020F0502020204030204" pitchFamily="34" charset="0"/>
                        <a:ea typeface="Calibri" panose="020F0502020204030204" pitchFamily="34" charset="0"/>
                      </a:endParaRPr>
                    </a:p>
                  </a:txBody>
                  <a:tcPr marL="33943" marR="33943" marT="33943" marB="33943">
                    <a:solidFill>
                      <a:schemeClr val="bg2">
                        <a:lumMod val="75000"/>
                      </a:schemeClr>
                    </a:solidFill>
                  </a:tcPr>
                </a:tc>
                <a:extLst>
                  <a:ext uri="{0D108BD9-81ED-4DB2-BD59-A6C34878D82A}">
                    <a16:rowId xmlns:a16="http://schemas.microsoft.com/office/drawing/2014/main" val="332432314"/>
                  </a:ext>
                </a:extLst>
              </a:tr>
            </a:tbl>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6">
          <a:extLst>
            <a:ext uri="{FF2B5EF4-FFF2-40B4-BE49-F238E27FC236}">
              <a16:creationId xmlns:a16="http://schemas.microsoft.com/office/drawing/2014/main" id="{66CFF464-7DB6-0672-CB60-84B892D7F97F}"/>
            </a:ext>
          </a:extLst>
        </p:cNvPr>
        <p:cNvGrpSpPr/>
        <p:nvPr/>
      </p:nvGrpSpPr>
      <p:grpSpPr>
        <a:xfrm>
          <a:off x="0" y="0"/>
          <a:ext cx="0" cy="0"/>
          <a:chOff x="0" y="0"/>
          <a:chExt cx="0" cy="0"/>
        </a:xfrm>
      </p:grpSpPr>
      <p:sp>
        <p:nvSpPr>
          <p:cNvPr id="167" name="Google Shape;167;p5">
            <a:extLst>
              <a:ext uri="{FF2B5EF4-FFF2-40B4-BE49-F238E27FC236}">
                <a16:creationId xmlns:a16="http://schemas.microsoft.com/office/drawing/2014/main" id="{306A5624-B7D5-6566-8D6C-B41CEC93C46F}"/>
              </a:ext>
            </a:extLst>
          </p:cNvPr>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pic>
        <p:nvPicPr>
          <p:cNvPr id="169" name="Google Shape;169;p5" descr="Green Pace logo">
            <a:extLst>
              <a:ext uri="{FF2B5EF4-FFF2-40B4-BE49-F238E27FC236}">
                <a16:creationId xmlns:a16="http://schemas.microsoft.com/office/drawing/2014/main" id="{78E921A4-DA74-DC53-9F59-675742099914}"/>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A5DDD111-9D57-51F4-FC2B-B88644A81FFD}"/>
              </a:ext>
            </a:extLst>
          </p:cNvPr>
          <p:cNvGraphicFramePr>
            <a:graphicFrameLocks noGrp="1"/>
          </p:cNvGraphicFramePr>
          <p:nvPr>
            <p:extLst>
              <p:ext uri="{D42A27DB-BD31-4B8C-83A1-F6EECF244321}">
                <p14:modId xmlns:p14="http://schemas.microsoft.com/office/powerpoint/2010/main" val="514327155"/>
              </p:ext>
            </p:extLst>
          </p:nvPr>
        </p:nvGraphicFramePr>
        <p:xfrm>
          <a:off x="685800" y="2057401"/>
          <a:ext cx="10820399" cy="3129058"/>
        </p:xfrm>
        <a:graphic>
          <a:graphicData uri="http://schemas.openxmlformats.org/drawingml/2006/table">
            <a:tbl>
              <a:tblPr firstRow="1" firstCol="1">
                <a:tableStyleId>{802198C4-3087-4945-87E3-76CBB3509B7E}</a:tableStyleId>
              </a:tblPr>
              <a:tblGrid>
                <a:gridCol w="2551527">
                  <a:extLst>
                    <a:ext uri="{9D8B030D-6E8A-4147-A177-3AD203B41FA5}">
                      <a16:colId xmlns:a16="http://schemas.microsoft.com/office/drawing/2014/main" val="2854824132"/>
                    </a:ext>
                  </a:extLst>
                </a:gridCol>
                <a:gridCol w="8268872">
                  <a:extLst>
                    <a:ext uri="{9D8B030D-6E8A-4147-A177-3AD203B41FA5}">
                      <a16:colId xmlns:a16="http://schemas.microsoft.com/office/drawing/2014/main" val="1521697177"/>
                    </a:ext>
                  </a:extLst>
                </a:gridCol>
              </a:tblGrid>
              <a:tr h="135362">
                <a:tc>
                  <a:txBody>
                    <a:bodyPr/>
                    <a:lstStyle/>
                    <a:p>
                      <a:pPr marL="0" marR="0" algn="ctr">
                        <a:buNone/>
                      </a:pPr>
                      <a:r>
                        <a:rPr lang="en-US" sz="1400">
                          <a:solidFill>
                            <a:schemeClr val="bg1"/>
                          </a:solidFill>
                          <a:effectLst/>
                          <a:latin typeface="+mn-lt"/>
                        </a:rPr>
                        <a:t>Principles</a:t>
                      </a:r>
                      <a:endParaRPr lang="en-US" sz="1400">
                        <a:solidFill>
                          <a:schemeClr val="bg1"/>
                        </a:solidFill>
                        <a:effectLst/>
                        <a:latin typeface="+mn-lt"/>
                        <a:ea typeface="Calibri" panose="020F0502020204030204" pitchFamily="34" charset="0"/>
                      </a:endParaRPr>
                    </a:p>
                  </a:txBody>
                  <a:tcPr marL="33943" marR="33943" marT="33943" marB="33943">
                    <a:solidFill>
                      <a:schemeClr val="bg2">
                        <a:lumMod val="75000"/>
                      </a:schemeClr>
                    </a:solidFill>
                  </a:tcPr>
                </a:tc>
                <a:tc>
                  <a:txBody>
                    <a:bodyPr/>
                    <a:lstStyle/>
                    <a:p>
                      <a:pPr marL="0" marR="0" algn="ctr">
                        <a:buNone/>
                      </a:pPr>
                      <a:r>
                        <a:rPr lang="en-US" sz="1400" dirty="0">
                          <a:solidFill>
                            <a:schemeClr val="bg1"/>
                          </a:solidFill>
                          <a:effectLst/>
                          <a:latin typeface="+mn-lt"/>
                        </a:rPr>
                        <a:t>Description</a:t>
                      </a:r>
                      <a:endParaRPr lang="en-US" sz="1400" dirty="0">
                        <a:solidFill>
                          <a:schemeClr val="bg1"/>
                        </a:solidFill>
                        <a:effectLst/>
                        <a:latin typeface="+mn-lt"/>
                        <a:ea typeface="Calibri" panose="020F0502020204030204" pitchFamily="34" charset="0"/>
                      </a:endParaRPr>
                    </a:p>
                  </a:txBody>
                  <a:tcPr marL="33943" marR="33943" marT="33943" marB="33943">
                    <a:solidFill>
                      <a:schemeClr val="bg2">
                        <a:lumMod val="75000"/>
                      </a:schemeClr>
                    </a:solidFill>
                  </a:tcPr>
                </a:tc>
                <a:extLst>
                  <a:ext uri="{0D108BD9-81ED-4DB2-BD59-A6C34878D82A}">
                    <a16:rowId xmlns:a16="http://schemas.microsoft.com/office/drawing/2014/main" val="2500201601"/>
                  </a:ext>
                </a:extLst>
              </a:tr>
              <a:tr h="551788">
                <a:tc>
                  <a:txBody>
                    <a:bodyPr/>
                    <a:lstStyle/>
                    <a:p>
                      <a:pPr marL="0" marR="0" lvl="0" indent="0">
                        <a:buFont typeface="+mj-lt"/>
                        <a:buNone/>
                      </a:pPr>
                      <a:r>
                        <a:rPr lang="en-US" sz="1400" dirty="0">
                          <a:solidFill>
                            <a:schemeClr val="bg1"/>
                          </a:solidFill>
                          <a:effectLst/>
                          <a:latin typeface="+mn-lt"/>
                          <a:ea typeface="Calibri" panose="020F0502020204030204" pitchFamily="34" charset="0"/>
                        </a:rPr>
                        <a:t>6. Adhere to the Principle of Least Privilege</a:t>
                      </a:r>
                    </a:p>
                  </a:txBody>
                  <a:tcPr marL="63500" marR="63500" marT="63500" marB="63500">
                    <a:solidFill>
                      <a:schemeClr val="bg2">
                        <a:lumMod val="75000"/>
                      </a:schemeClr>
                    </a:solidFill>
                  </a:tcPr>
                </a:tc>
                <a:tc>
                  <a:txBody>
                    <a:bodyPr/>
                    <a:lstStyle/>
                    <a:p>
                      <a:pPr marL="0" marR="0">
                        <a:buNone/>
                      </a:pPr>
                      <a:r>
                        <a:rPr lang="en-US" sz="1400" dirty="0">
                          <a:solidFill>
                            <a:schemeClr val="bg1"/>
                          </a:solidFill>
                          <a:effectLst/>
                          <a:latin typeface="+mn-lt"/>
                          <a:ea typeface="Calibri" panose="020F0502020204030204" pitchFamily="34" charset="0"/>
                        </a:rPr>
                        <a:t>Give users and processes only the minimal permissions required. Limits damage if a component is compromised.</a:t>
                      </a:r>
                    </a:p>
                  </a:txBody>
                  <a:tcPr marL="63500" marR="63500" marT="63500" marB="63500">
                    <a:solidFill>
                      <a:schemeClr val="bg2">
                        <a:lumMod val="75000"/>
                      </a:schemeClr>
                    </a:solidFill>
                  </a:tcPr>
                </a:tc>
                <a:extLst>
                  <a:ext uri="{0D108BD9-81ED-4DB2-BD59-A6C34878D82A}">
                    <a16:rowId xmlns:a16="http://schemas.microsoft.com/office/drawing/2014/main" val="2709167516"/>
                  </a:ext>
                </a:extLst>
              </a:tr>
              <a:tr h="692762">
                <a:tc>
                  <a:txBody>
                    <a:bodyPr/>
                    <a:lstStyle/>
                    <a:p>
                      <a:pPr marL="0" marR="0" lvl="0" indent="0">
                        <a:buFont typeface="+mj-lt"/>
                        <a:buNone/>
                      </a:pPr>
                      <a:r>
                        <a:rPr lang="en-US" sz="1400" dirty="0">
                          <a:solidFill>
                            <a:schemeClr val="bg1"/>
                          </a:solidFill>
                          <a:effectLst/>
                          <a:latin typeface="+mn-lt"/>
                          <a:ea typeface="Calibri" panose="020F0502020204030204" pitchFamily="34" charset="0"/>
                        </a:rPr>
                        <a:t>7. Sanitize Data Sent to Other Systems</a:t>
                      </a:r>
                    </a:p>
                  </a:txBody>
                  <a:tcPr marL="63500" marR="63500" marT="63500" marB="63500">
                    <a:solidFill>
                      <a:schemeClr val="bg2">
                        <a:lumMod val="75000"/>
                      </a:schemeClr>
                    </a:solidFill>
                  </a:tcPr>
                </a:tc>
                <a:tc>
                  <a:txBody>
                    <a:bodyPr/>
                    <a:lstStyle/>
                    <a:p>
                      <a:pPr marL="0" marR="0">
                        <a:buNone/>
                      </a:pPr>
                      <a:r>
                        <a:rPr lang="en-US" sz="1400" dirty="0">
                          <a:solidFill>
                            <a:schemeClr val="bg1"/>
                          </a:solidFill>
                          <a:effectLst/>
                          <a:latin typeface="+mn-lt"/>
                          <a:ea typeface="Calibri" panose="020F0502020204030204" pitchFamily="34" charset="0"/>
                        </a:rPr>
                        <a:t>Clean and validate data before sending it across system boundaries to prevent misuse or command injection.</a:t>
                      </a:r>
                    </a:p>
                  </a:txBody>
                  <a:tcPr marL="63500" marR="63500" marT="63500" marB="63500">
                    <a:solidFill>
                      <a:schemeClr val="bg2">
                        <a:lumMod val="75000"/>
                      </a:schemeClr>
                    </a:solidFill>
                  </a:tcPr>
                </a:tc>
                <a:extLst>
                  <a:ext uri="{0D108BD9-81ED-4DB2-BD59-A6C34878D82A}">
                    <a16:rowId xmlns:a16="http://schemas.microsoft.com/office/drawing/2014/main" val="3946606307"/>
                  </a:ext>
                </a:extLst>
              </a:tr>
              <a:tr h="493890">
                <a:tc>
                  <a:txBody>
                    <a:bodyPr/>
                    <a:lstStyle/>
                    <a:p>
                      <a:pPr marL="0" marR="0" lvl="0" indent="0">
                        <a:buFont typeface="+mj-lt"/>
                        <a:buNone/>
                      </a:pPr>
                      <a:r>
                        <a:rPr lang="en-US" sz="1400" dirty="0">
                          <a:solidFill>
                            <a:schemeClr val="bg1"/>
                          </a:solidFill>
                          <a:effectLst/>
                          <a:latin typeface="+mn-lt"/>
                          <a:ea typeface="Calibri" panose="020F0502020204030204" pitchFamily="34" charset="0"/>
                        </a:rPr>
                        <a:t>8. Practice Defense in Depth </a:t>
                      </a:r>
                    </a:p>
                  </a:txBody>
                  <a:tcPr marL="63500" marR="63500" marT="63500" marB="63500">
                    <a:solidFill>
                      <a:schemeClr val="bg2">
                        <a:lumMod val="75000"/>
                      </a:schemeClr>
                    </a:solidFill>
                  </a:tcPr>
                </a:tc>
                <a:tc>
                  <a:txBody>
                    <a:bodyPr/>
                    <a:lstStyle/>
                    <a:p>
                      <a:pPr marL="0" marR="0">
                        <a:buNone/>
                      </a:pPr>
                      <a:r>
                        <a:rPr lang="en-US" sz="1400" dirty="0">
                          <a:solidFill>
                            <a:schemeClr val="bg1"/>
                          </a:solidFill>
                          <a:effectLst/>
                          <a:latin typeface="+mn-lt"/>
                          <a:ea typeface="Calibri" panose="020F0502020204030204" pitchFamily="34" charset="0"/>
                        </a:rPr>
                        <a:t>Use multiple layers of security so that if one fails, others still protect the system.</a:t>
                      </a:r>
                    </a:p>
                  </a:txBody>
                  <a:tcPr marL="63500" marR="63500" marT="63500" marB="63500">
                    <a:solidFill>
                      <a:schemeClr val="bg2">
                        <a:lumMod val="75000"/>
                      </a:schemeClr>
                    </a:solidFill>
                  </a:tcPr>
                </a:tc>
                <a:extLst>
                  <a:ext uri="{0D108BD9-81ED-4DB2-BD59-A6C34878D82A}">
                    <a16:rowId xmlns:a16="http://schemas.microsoft.com/office/drawing/2014/main" val="862086918"/>
                  </a:ext>
                </a:extLst>
              </a:tr>
              <a:tr h="457807">
                <a:tc>
                  <a:txBody>
                    <a:bodyPr/>
                    <a:lstStyle/>
                    <a:p>
                      <a:pPr marL="0" marR="0" lvl="0" indent="0">
                        <a:buFont typeface="+mj-lt"/>
                        <a:buNone/>
                      </a:pPr>
                      <a:r>
                        <a:rPr lang="en-US" sz="1400" dirty="0">
                          <a:solidFill>
                            <a:schemeClr val="bg1"/>
                          </a:solidFill>
                          <a:effectLst/>
                          <a:latin typeface="+mn-lt"/>
                          <a:ea typeface="Calibri" panose="020F0502020204030204" pitchFamily="34" charset="0"/>
                        </a:rPr>
                        <a:t>9. Use Effective Quality Assurance Techniques</a:t>
                      </a:r>
                    </a:p>
                  </a:txBody>
                  <a:tcPr marL="63500" marR="63500" marT="63500" marB="63500">
                    <a:solidFill>
                      <a:schemeClr val="bg2">
                        <a:lumMod val="75000"/>
                      </a:schemeClr>
                    </a:solidFill>
                  </a:tcPr>
                </a:tc>
                <a:tc>
                  <a:txBody>
                    <a:bodyPr/>
                    <a:lstStyle/>
                    <a:p>
                      <a:pPr marL="0" marR="0">
                        <a:buNone/>
                      </a:pPr>
                      <a:r>
                        <a:rPr lang="en-US" sz="1400" dirty="0">
                          <a:solidFill>
                            <a:schemeClr val="bg1"/>
                          </a:solidFill>
                          <a:effectLst/>
                          <a:latin typeface="+mn-lt"/>
                          <a:ea typeface="Calibri" panose="020F0502020204030204" pitchFamily="34" charset="0"/>
                        </a:rPr>
                        <a:t>Use testing, reviews, and static analysis to catch security and functional issues early in development.</a:t>
                      </a:r>
                    </a:p>
                  </a:txBody>
                  <a:tcPr marL="63500" marR="63500" marT="63500" marB="63500">
                    <a:solidFill>
                      <a:schemeClr val="bg2">
                        <a:lumMod val="75000"/>
                      </a:schemeClr>
                    </a:solidFill>
                  </a:tcPr>
                </a:tc>
                <a:extLst>
                  <a:ext uri="{0D108BD9-81ED-4DB2-BD59-A6C34878D82A}">
                    <a16:rowId xmlns:a16="http://schemas.microsoft.com/office/drawing/2014/main" val="1711559445"/>
                  </a:ext>
                </a:extLst>
              </a:tr>
              <a:tr h="386547">
                <a:tc>
                  <a:txBody>
                    <a:bodyPr/>
                    <a:lstStyle/>
                    <a:p>
                      <a:pPr marL="0" marR="0" lvl="0" indent="0">
                        <a:buFont typeface="+mj-lt"/>
                        <a:buNone/>
                      </a:pPr>
                      <a:r>
                        <a:rPr lang="en-US" sz="1400" dirty="0">
                          <a:solidFill>
                            <a:schemeClr val="bg1"/>
                          </a:solidFill>
                          <a:effectLst/>
                          <a:latin typeface="+mn-lt"/>
                          <a:ea typeface="Calibri" panose="020F0502020204030204" pitchFamily="34" charset="0"/>
                        </a:rPr>
                        <a:t>10. Adopt a Secure Coding Standard</a:t>
                      </a:r>
                    </a:p>
                  </a:txBody>
                  <a:tcPr marL="63500" marR="63500" marT="63500" marB="63500">
                    <a:solidFill>
                      <a:schemeClr val="bg2">
                        <a:lumMod val="75000"/>
                      </a:schemeClr>
                    </a:solidFill>
                  </a:tcPr>
                </a:tc>
                <a:tc>
                  <a:txBody>
                    <a:bodyPr/>
                    <a:lstStyle/>
                    <a:p>
                      <a:pPr marL="0" marR="0">
                        <a:buNone/>
                      </a:pPr>
                      <a:r>
                        <a:rPr lang="en-US" sz="1400" dirty="0">
                          <a:solidFill>
                            <a:schemeClr val="bg1"/>
                          </a:solidFill>
                          <a:effectLst/>
                          <a:latin typeface="+mn-lt"/>
                          <a:ea typeface="Calibri" panose="020F0502020204030204" pitchFamily="34" charset="0"/>
                        </a:rPr>
                        <a:t>Follow consistent secure coding rules to reduce mistakes, prevent risky functions, and ensure predictable, safe behavior.</a:t>
                      </a:r>
                    </a:p>
                  </a:txBody>
                  <a:tcPr marL="63500" marR="63500" marT="63500" marB="63500">
                    <a:solidFill>
                      <a:schemeClr val="bg2">
                        <a:lumMod val="75000"/>
                      </a:schemeClr>
                    </a:solidFill>
                  </a:tcPr>
                </a:tc>
                <a:extLst>
                  <a:ext uri="{0D108BD9-81ED-4DB2-BD59-A6C34878D82A}">
                    <a16:rowId xmlns:a16="http://schemas.microsoft.com/office/drawing/2014/main" val="332432314"/>
                  </a:ext>
                </a:extLst>
              </a:tr>
            </a:tbl>
          </a:graphicData>
        </a:graphic>
      </p:graphicFrame>
    </p:spTree>
    <p:custDataLst>
      <p:tags r:id="rId1"/>
    </p:custDataLst>
    <p:extLst>
      <p:ext uri="{BB962C8B-B14F-4D97-AF65-F5344CB8AC3E}">
        <p14:creationId xmlns:p14="http://schemas.microsoft.com/office/powerpoint/2010/main" val="2812300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CODING STANDARDS</a:t>
            </a: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4D4A8340-366F-6EC0-0758-9552E135A9FA}"/>
              </a:ext>
            </a:extLst>
          </p:cNvPr>
          <p:cNvGraphicFramePr>
            <a:graphicFrameLocks noGrp="1"/>
          </p:cNvGraphicFramePr>
          <p:nvPr>
            <p:extLst>
              <p:ext uri="{D42A27DB-BD31-4B8C-83A1-F6EECF244321}">
                <p14:modId xmlns:p14="http://schemas.microsoft.com/office/powerpoint/2010/main" val="126185449"/>
              </p:ext>
            </p:extLst>
          </p:nvPr>
        </p:nvGraphicFramePr>
        <p:xfrm>
          <a:off x="565868" y="1920274"/>
          <a:ext cx="10383078" cy="4543641"/>
        </p:xfrm>
        <a:graphic>
          <a:graphicData uri="http://schemas.openxmlformats.org/drawingml/2006/table">
            <a:tbl>
              <a:tblPr firstRow="1" firstCol="1" bandRow="1">
                <a:tableStyleId>{802198C4-3087-4945-87E3-76CBB3509B7E}</a:tableStyleId>
              </a:tblPr>
              <a:tblGrid>
                <a:gridCol w="1763998">
                  <a:extLst>
                    <a:ext uri="{9D8B030D-6E8A-4147-A177-3AD203B41FA5}">
                      <a16:colId xmlns:a16="http://schemas.microsoft.com/office/drawing/2014/main" val="2066108519"/>
                    </a:ext>
                  </a:extLst>
                </a:gridCol>
                <a:gridCol w="1563088">
                  <a:extLst>
                    <a:ext uri="{9D8B030D-6E8A-4147-A177-3AD203B41FA5}">
                      <a16:colId xmlns:a16="http://schemas.microsoft.com/office/drawing/2014/main" val="1014824304"/>
                    </a:ext>
                  </a:extLst>
                </a:gridCol>
                <a:gridCol w="7055992">
                  <a:extLst>
                    <a:ext uri="{9D8B030D-6E8A-4147-A177-3AD203B41FA5}">
                      <a16:colId xmlns:a16="http://schemas.microsoft.com/office/drawing/2014/main" val="3127455818"/>
                    </a:ext>
                  </a:extLst>
                </a:gridCol>
              </a:tblGrid>
              <a:tr h="382929">
                <a:tc>
                  <a:txBody>
                    <a:bodyPr/>
                    <a:lstStyle/>
                    <a:p>
                      <a:pPr marL="0" marR="0" algn="ctr">
                        <a:buNone/>
                      </a:pPr>
                      <a:r>
                        <a:rPr lang="en-US" sz="1800" b="1">
                          <a:solidFill>
                            <a:schemeClr val="bg1"/>
                          </a:solidFill>
                          <a:effectLst/>
                        </a:rPr>
                        <a:t>Rule</a:t>
                      </a:r>
                      <a:endParaRPr lang="en-US" sz="1800" b="1">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lgn="ctr">
                        <a:buNone/>
                      </a:pPr>
                      <a:r>
                        <a:rPr lang="en-US" sz="1800" b="1">
                          <a:solidFill>
                            <a:schemeClr val="bg1"/>
                          </a:solidFill>
                          <a:effectLst/>
                        </a:rPr>
                        <a:t>Priority</a:t>
                      </a:r>
                      <a:endParaRPr lang="en-US" sz="1800" b="1">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lgn="ctr">
                        <a:buNone/>
                      </a:pPr>
                      <a:r>
                        <a:rPr lang="en-US" sz="1800" b="1" dirty="0">
                          <a:solidFill>
                            <a:schemeClr val="bg1"/>
                          </a:solidFill>
                          <a:effectLst/>
                        </a:rPr>
                        <a:t>Description</a:t>
                      </a:r>
                      <a:endParaRPr lang="en-US" sz="1800" b="1" dirty="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extLst>
                  <a:ext uri="{0D108BD9-81ED-4DB2-BD59-A6C34878D82A}">
                    <a16:rowId xmlns:a16="http://schemas.microsoft.com/office/drawing/2014/main" val="2886785580"/>
                  </a:ext>
                </a:extLst>
              </a:tr>
              <a:tr h="382929">
                <a:tc>
                  <a:txBody>
                    <a:bodyPr/>
                    <a:lstStyle/>
                    <a:p>
                      <a:pPr marL="0" marR="0">
                        <a:buNone/>
                      </a:pPr>
                      <a:r>
                        <a:rPr lang="en-US" sz="1800">
                          <a:solidFill>
                            <a:schemeClr val="bg1"/>
                          </a:solidFill>
                          <a:effectLst/>
                        </a:rPr>
                        <a:t>STD-001-CPP</a:t>
                      </a:r>
                      <a:endParaRPr lang="en-US" sz="180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rPr>
                        <a:t>High (P12)</a:t>
                      </a:r>
                      <a:endParaRPr lang="en-US" sz="1800" dirty="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latin typeface="Calibri" panose="020F0502020204030204" pitchFamily="34" charset="0"/>
                          <a:ea typeface="Calibri" panose="020F0502020204030204" pitchFamily="34" charset="0"/>
                        </a:rPr>
                        <a:t>Ensure that integer conversions do not result in lost or misinterpreted data.</a:t>
                      </a:r>
                    </a:p>
                  </a:txBody>
                  <a:tcPr marL="45731" marR="45731" marT="0" marB="0">
                    <a:solidFill>
                      <a:schemeClr val="bg2">
                        <a:lumMod val="75000"/>
                      </a:schemeClr>
                    </a:solidFill>
                  </a:tcPr>
                </a:tc>
                <a:extLst>
                  <a:ext uri="{0D108BD9-81ED-4DB2-BD59-A6C34878D82A}">
                    <a16:rowId xmlns:a16="http://schemas.microsoft.com/office/drawing/2014/main" val="1607669027"/>
                  </a:ext>
                </a:extLst>
              </a:tr>
              <a:tr h="382929">
                <a:tc>
                  <a:txBody>
                    <a:bodyPr/>
                    <a:lstStyle/>
                    <a:p>
                      <a:pPr marL="0" marR="0">
                        <a:buNone/>
                      </a:pPr>
                      <a:r>
                        <a:rPr lang="en-US" sz="1800">
                          <a:solidFill>
                            <a:schemeClr val="bg1"/>
                          </a:solidFill>
                          <a:effectLst/>
                        </a:rPr>
                        <a:t>STD-002-CPP</a:t>
                      </a:r>
                      <a:endParaRPr lang="en-US" sz="180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rPr>
                        <a:t>High (P9)</a:t>
                      </a:r>
                      <a:endParaRPr lang="en-US" sz="1800" dirty="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latin typeface="Calibri" panose="020F0502020204030204" pitchFamily="34" charset="0"/>
                          <a:ea typeface="Calibri" panose="020F0502020204030204" pitchFamily="34" charset="0"/>
                        </a:rPr>
                        <a:t>Ensure that unsigned integer operations do not wrap.</a:t>
                      </a:r>
                    </a:p>
                  </a:txBody>
                  <a:tcPr marL="45731" marR="45731" marT="0" marB="0">
                    <a:solidFill>
                      <a:schemeClr val="bg2">
                        <a:lumMod val="75000"/>
                      </a:schemeClr>
                    </a:solidFill>
                  </a:tcPr>
                </a:tc>
                <a:extLst>
                  <a:ext uri="{0D108BD9-81ED-4DB2-BD59-A6C34878D82A}">
                    <a16:rowId xmlns:a16="http://schemas.microsoft.com/office/drawing/2014/main" val="1868302841"/>
                  </a:ext>
                </a:extLst>
              </a:tr>
              <a:tr h="382929">
                <a:tc>
                  <a:txBody>
                    <a:bodyPr/>
                    <a:lstStyle/>
                    <a:p>
                      <a:pPr marL="0" marR="0">
                        <a:buNone/>
                      </a:pPr>
                      <a:r>
                        <a:rPr lang="en-US" sz="1800">
                          <a:solidFill>
                            <a:schemeClr val="bg1"/>
                          </a:solidFill>
                          <a:effectLst/>
                        </a:rPr>
                        <a:t>STD-004-CPP</a:t>
                      </a:r>
                      <a:endParaRPr lang="en-US" sz="180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rPr>
                        <a:t>High (P9)</a:t>
                      </a:r>
                      <a:endParaRPr lang="en-US" sz="1800" dirty="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latin typeface="Calibri" panose="020F0502020204030204" pitchFamily="34" charset="0"/>
                          <a:ea typeface="Calibri" panose="020F0502020204030204" pitchFamily="34" charset="0"/>
                        </a:rPr>
                        <a:t>String data cannot be misinterpreted as commands or control characters.</a:t>
                      </a:r>
                    </a:p>
                  </a:txBody>
                  <a:tcPr marL="45731" marR="45731" marT="0" marB="0">
                    <a:solidFill>
                      <a:schemeClr val="bg2">
                        <a:lumMod val="75000"/>
                      </a:schemeClr>
                    </a:solidFill>
                  </a:tcPr>
                </a:tc>
                <a:extLst>
                  <a:ext uri="{0D108BD9-81ED-4DB2-BD59-A6C34878D82A}">
                    <a16:rowId xmlns:a16="http://schemas.microsoft.com/office/drawing/2014/main" val="3774868492"/>
                  </a:ext>
                </a:extLst>
              </a:tr>
              <a:tr h="382929">
                <a:tc>
                  <a:txBody>
                    <a:bodyPr/>
                    <a:lstStyle/>
                    <a:p>
                      <a:pPr marL="0" marR="0">
                        <a:buNone/>
                      </a:pPr>
                      <a:r>
                        <a:rPr lang="en-US" sz="1800">
                          <a:solidFill>
                            <a:schemeClr val="bg1"/>
                          </a:solidFill>
                          <a:effectLst/>
                        </a:rPr>
                        <a:t>STD-005-CPP</a:t>
                      </a:r>
                      <a:endParaRPr lang="en-US" sz="180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rPr>
                        <a:t>High (P9)</a:t>
                      </a:r>
                      <a:endParaRPr lang="en-US" sz="1800" dirty="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latin typeface="Calibri" panose="020F0502020204030204" pitchFamily="34" charset="0"/>
                          <a:ea typeface="Calibri" panose="020F0502020204030204" pitchFamily="34" charset="0"/>
                        </a:rPr>
                        <a:t>Do not access freed memory.</a:t>
                      </a:r>
                    </a:p>
                  </a:txBody>
                  <a:tcPr marL="45731" marR="45731" marT="0" marB="0">
                    <a:solidFill>
                      <a:schemeClr val="bg2">
                        <a:lumMod val="75000"/>
                      </a:schemeClr>
                    </a:solidFill>
                  </a:tcPr>
                </a:tc>
                <a:extLst>
                  <a:ext uri="{0D108BD9-81ED-4DB2-BD59-A6C34878D82A}">
                    <a16:rowId xmlns:a16="http://schemas.microsoft.com/office/drawing/2014/main" val="3617379731"/>
                  </a:ext>
                </a:extLst>
              </a:tr>
              <a:tr h="382929">
                <a:tc>
                  <a:txBody>
                    <a:bodyPr/>
                    <a:lstStyle/>
                    <a:p>
                      <a:pPr marL="0" marR="0">
                        <a:buNone/>
                      </a:pPr>
                      <a:r>
                        <a:rPr lang="en-US" sz="1800">
                          <a:solidFill>
                            <a:schemeClr val="bg1"/>
                          </a:solidFill>
                          <a:effectLst/>
                        </a:rPr>
                        <a:t>STD-009-CPP</a:t>
                      </a:r>
                      <a:endParaRPr lang="en-US" sz="180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rPr>
                        <a:t>High (P9)</a:t>
                      </a:r>
                      <a:endParaRPr lang="en-US" sz="1800" dirty="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latin typeface="Calibri" panose="020F0502020204030204" pitchFamily="34" charset="0"/>
                          <a:ea typeface="Calibri" panose="020F0502020204030204" pitchFamily="34" charset="0"/>
                        </a:rPr>
                        <a:t>Properly deallocate dynamically allocated resources.</a:t>
                      </a:r>
                    </a:p>
                  </a:txBody>
                  <a:tcPr marL="45731" marR="45731" marT="0" marB="0">
                    <a:solidFill>
                      <a:schemeClr val="bg2">
                        <a:lumMod val="75000"/>
                      </a:schemeClr>
                    </a:solidFill>
                  </a:tcPr>
                </a:tc>
                <a:extLst>
                  <a:ext uri="{0D108BD9-81ED-4DB2-BD59-A6C34878D82A}">
                    <a16:rowId xmlns:a16="http://schemas.microsoft.com/office/drawing/2014/main" val="3004941480"/>
                  </a:ext>
                </a:extLst>
              </a:tr>
              <a:tr h="382929">
                <a:tc>
                  <a:txBody>
                    <a:bodyPr/>
                    <a:lstStyle/>
                    <a:p>
                      <a:pPr marL="0" marR="0">
                        <a:buNone/>
                      </a:pPr>
                      <a:r>
                        <a:rPr lang="en-US" sz="1800">
                          <a:solidFill>
                            <a:schemeClr val="bg1"/>
                          </a:solidFill>
                          <a:effectLst/>
                        </a:rPr>
                        <a:t>STD-007-CPP</a:t>
                      </a:r>
                      <a:endParaRPr lang="en-US" sz="180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rPr>
                        <a:t>Medium (P6)</a:t>
                      </a:r>
                      <a:endParaRPr lang="en-US" sz="1800" dirty="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latin typeface="Calibri" panose="020F0502020204030204" pitchFamily="34" charset="0"/>
                          <a:ea typeface="Calibri" panose="020F0502020204030204" pitchFamily="34" charset="0"/>
                        </a:rPr>
                        <a:t>Handle all exceptions.</a:t>
                      </a:r>
                    </a:p>
                  </a:txBody>
                  <a:tcPr marL="45731" marR="45731" marT="0" marB="0">
                    <a:solidFill>
                      <a:schemeClr val="bg2">
                        <a:lumMod val="75000"/>
                      </a:schemeClr>
                    </a:solidFill>
                  </a:tcPr>
                </a:tc>
                <a:extLst>
                  <a:ext uri="{0D108BD9-81ED-4DB2-BD59-A6C34878D82A}">
                    <a16:rowId xmlns:a16="http://schemas.microsoft.com/office/drawing/2014/main" val="3122169213"/>
                  </a:ext>
                </a:extLst>
              </a:tr>
              <a:tr h="382929">
                <a:tc>
                  <a:txBody>
                    <a:bodyPr/>
                    <a:lstStyle/>
                    <a:p>
                      <a:pPr marL="0" marR="0">
                        <a:buNone/>
                      </a:pPr>
                      <a:r>
                        <a:rPr lang="en-US" sz="1800">
                          <a:solidFill>
                            <a:schemeClr val="bg1"/>
                          </a:solidFill>
                          <a:effectLst/>
                        </a:rPr>
                        <a:t>STD-003-CPP</a:t>
                      </a:r>
                      <a:endParaRPr lang="en-US" sz="180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rPr>
                        <a:t>Low (P3)</a:t>
                      </a:r>
                      <a:endParaRPr lang="en-US" sz="1800" dirty="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chemeClr val="bg1"/>
                          </a:solidFill>
                          <a:effectLst/>
                          <a:latin typeface="Calibri" panose="020F0502020204030204" pitchFamily="34" charset="0"/>
                          <a:ea typeface="Calibri" panose="020F0502020204030204" pitchFamily="34" charset="0"/>
                        </a:rPr>
                        <a:t>Storage for strings has sufficient space for character data and null terminator. </a:t>
                      </a:r>
                    </a:p>
                  </a:txBody>
                  <a:tcPr marL="45731" marR="45731" marT="0" marB="0">
                    <a:solidFill>
                      <a:schemeClr val="bg2">
                        <a:lumMod val="75000"/>
                      </a:schemeClr>
                    </a:solidFill>
                  </a:tcPr>
                </a:tc>
                <a:extLst>
                  <a:ext uri="{0D108BD9-81ED-4DB2-BD59-A6C34878D82A}">
                    <a16:rowId xmlns:a16="http://schemas.microsoft.com/office/drawing/2014/main" val="1829266740"/>
                  </a:ext>
                </a:extLst>
              </a:tr>
              <a:tr h="382929">
                <a:tc>
                  <a:txBody>
                    <a:bodyPr/>
                    <a:lstStyle/>
                    <a:p>
                      <a:pPr marL="0" marR="0">
                        <a:buNone/>
                      </a:pPr>
                      <a:r>
                        <a:rPr lang="en-US" sz="1800">
                          <a:solidFill>
                            <a:schemeClr val="bg1"/>
                          </a:solidFill>
                          <a:effectLst/>
                        </a:rPr>
                        <a:t>STD-010-CPP</a:t>
                      </a:r>
                      <a:endParaRPr lang="en-US" sz="180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rPr>
                        <a:t>Low (P3)</a:t>
                      </a:r>
                      <a:endParaRPr lang="en-US" sz="1800" dirty="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latin typeface="Calibri" panose="020F0502020204030204" pitchFamily="34" charset="0"/>
                          <a:ea typeface="Calibri" panose="020F0502020204030204" pitchFamily="34" charset="0"/>
                        </a:rPr>
                        <a:t>Range check element access. </a:t>
                      </a:r>
                    </a:p>
                  </a:txBody>
                  <a:tcPr marL="45731" marR="45731" marT="0" marB="0">
                    <a:solidFill>
                      <a:schemeClr val="bg2">
                        <a:lumMod val="75000"/>
                      </a:schemeClr>
                    </a:solidFill>
                  </a:tcPr>
                </a:tc>
                <a:extLst>
                  <a:ext uri="{0D108BD9-81ED-4DB2-BD59-A6C34878D82A}">
                    <a16:rowId xmlns:a16="http://schemas.microsoft.com/office/drawing/2014/main" val="2550494900"/>
                  </a:ext>
                </a:extLst>
              </a:tr>
              <a:tr h="382929">
                <a:tc>
                  <a:txBody>
                    <a:bodyPr/>
                    <a:lstStyle/>
                    <a:p>
                      <a:pPr marL="0" marR="0">
                        <a:buNone/>
                      </a:pPr>
                      <a:r>
                        <a:rPr lang="en-US" sz="1800" dirty="0">
                          <a:solidFill>
                            <a:schemeClr val="bg1"/>
                          </a:solidFill>
                          <a:effectLst/>
                        </a:rPr>
                        <a:t>STD-006-CPP</a:t>
                      </a:r>
                      <a:endParaRPr lang="en-US" sz="1800" dirty="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rPr>
                        <a:t>Low (P2)</a:t>
                      </a:r>
                      <a:endParaRPr lang="en-US" sz="1800" dirty="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latin typeface="Calibri" panose="020F0502020204030204" pitchFamily="34" charset="0"/>
                          <a:ea typeface="Calibri" panose="020F0502020204030204" pitchFamily="34" charset="0"/>
                        </a:rPr>
                        <a:t>Avoid side effects in arguments to unsafe macros.</a:t>
                      </a:r>
                    </a:p>
                  </a:txBody>
                  <a:tcPr marL="45731" marR="45731" marT="0" marB="0">
                    <a:solidFill>
                      <a:schemeClr val="bg2">
                        <a:lumMod val="75000"/>
                      </a:schemeClr>
                    </a:solidFill>
                  </a:tcPr>
                </a:tc>
                <a:extLst>
                  <a:ext uri="{0D108BD9-81ED-4DB2-BD59-A6C34878D82A}">
                    <a16:rowId xmlns:a16="http://schemas.microsoft.com/office/drawing/2014/main" val="2736217199"/>
                  </a:ext>
                </a:extLst>
              </a:tr>
              <a:tr h="382929">
                <a:tc>
                  <a:txBody>
                    <a:bodyPr/>
                    <a:lstStyle/>
                    <a:p>
                      <a:pPr marL="0" marR="0">
                        <a:buNone/>
                      </a:pPr>
                      <a:r>
                        <a:rPr lang="en-US" sz="1800" dirty="0">
                          <a:solidFill>
                            <a:schemeClr val="bg1"/>
                          </a:solidFill>
                          <a:effectLst/>
                        </a:rPr>
                        <a:t>STD-008-CPP</a:t>
                      </a:r>
                      <a:endParaRPr lang="en-US" sz="1800" dirty="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rPr>
                        <a:t>Low (P2)</a:t>
                      </a:r>
                      <a:endParaRPr lang="en-US" sz="1800" dirty="0">
                        <a:solidFill>
                          <a:schemeClr val="bg1"/>
                        </a:solidFill>
                        <a:effectLst/>
                        <a:latin typeface="Calibri" panose="020F0502020204030204" pitchFamily="34" charset="0"/>
                        <a:ea typeface="Calibri" panose="020F0502020204030204" pitchFamily="34" charset="0"/>
                      </a:endParaRPr>
                    </a:p>
                  </a:txBody>
                  <a:tcPr marL="45731" marR="45731" marT="0" marB="0">
                    <a:solidFill>
                      <a:schemeClr val="bg2">
                        <a:lumMod val="75000"/>
                      </a:schemeClr>
                    </a:solidFill>
                  </a:tcPr>
                </a:tc>
                <a:tc>
                  <a:txBody>
                    <a:bodyPr/>
                    <a:lstStyle/>
                    <a:p>
                      <a:pPr marL="0" marR="0">
                        <a:buNone/>
                      </a:pPr>
                      <a:r>
                        <a:rPr lang="en-US" sz="1800" dirty="0">
                          <a:solidFill>
                            <a:schemeClr val="bg1"/>
                          </a:solidFill>
                          <a:effectLst/>
                          <a:latin typeface="Calibri" panose="020F0502020204030204" pitchFamily="34" charset="0"/>
                          <a:ea typeface="Calibri" panose="020F0502020204030204" pitchFamily="34" charset="0"/>
                        </a:rPr>
                        <a:t>Do not leak resources when handling exceptions. </a:t>
                      </a:r>
                    </a:p>
                  </a:txBody>
                  <a:tcPr marL="45731" marR="45731" marT="0" marB="0">
                    <a:solidFill>
                      <a:schemeClr val="bg2">
                        <a:lumMod val="75000"/>
                      </a:schemeClr>
                    </a:solidFill>
                  </a:tcPr>
                </a:tc>
                <a:extLst>
                  <a:ext uri="{0D108BD9-81ED-4DB2-BD59-A6C34878D82A}">
                    <a16:rowId xmlns:a16="http://schemas.microsoft.com/office/drawing/2014/main" val="1171436747"/>
                  </a:ext>
                </a:extLst>
              </a:tr>
            </a:tbl>
          </a:graphicData>
        </a:graphic>
      </p:graphicFrame>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4" name="Table 3">
            <a:extLst>
              <a:ext uri="{FF2B5EF4-FFF2-40B4-BE49-F238E27FC236}">
                <a16:creationId xmlns:a16="http://schemas.microsoft.com/office/drawing/2014/main" id="{6D099643-7E8F-A015-B506-0F9E1EE972B9}"/>
              </a:ext>
            </a:extLst>
          </p:cNvPr>
          <p:cNvGraphicFramePr>
            <a:graphicFrameLocks noGrp="1"/>
          </p:cNvGraphicFramePr>
          <p:nvPr>
            <p:extLst>
              <p:ext uri="{D42A27DB-BD31-4B8C-83A1-F6EECF244321}">
                <p14:modId xmlns:p14="http://schemas.microsoft.com/office/powerpoint/2010/main" val="2315322643"/>
              </p:ext>
            </p:extLst>
          </p:nvPr>
        </p:nvGraphicFramePr>
        <p:xfrm>
          <a:off x="488961" y="2168720"/>
          <a:ext cx="10595113" cy="3735615"/>
        </p:xfrm>
        <a:graphic>
          <a:graphicData uri="http://schemas.openxmlformats.org/drawingml/2006/table">
            <a:tbl>
              <a:tblPr firstRow="1" bandRow="1">
                <a:tableStyleId>{802198C4-3087-4945-87E3-76CBB3509B7E}</a:tableStyleId>
              </a:tblPr>
              <a:tblGrid>
                <a:gridCol w="2441050">
                  <a:extLst>
                    <a:ext uri="{9D8B030D-6E8A-4147-A177-3AD203B41FA5}">
                      <a16:colId xmlns:a16="http://schemas.microsoft.com/office/drawing/2014/main" val="3304179026"/>
                    </a:ext>
                  </a:extLst>
                </a:gridCol>
                <a:gridCol w="8154063">
                  <a:extLst>
                    <a:ext uri="{9D8B030D-6E8A-4147-A177-3AD203B41FA5}">
                      <a16:colId xmlns:a16="http://schemas.microsoft.com/office/drawing/2014/main" val="1845061563"/>
                    </a:ext>
                  </a:extLst>
                </a:gridCol>
              </a:tblGrid>
              <a:tr h="1112549">
                <a:tc>
                  <a:txBody>
                    <a:bodyPr/>
                    <a:lstStyle/>
                    <a:p>
                      <a:r>
                        <a:rPr lang="en-US" sz="2000" dirty="0">
                          <a:solidFill>
                            <a:schemeClr val="bg1"/>
                          </a:solidFill>
                        </a:rPr>
                        <a:t>Encryption at Rest</a:t>
                      </a:r>
                    </a:p>
                  </a:txBody>
                  <a:tcPr>
                    <a:solidFill>
                      <a:schemeClr val="tx1">
                        <a:lumMod val="85000"/>
                        <a:lumOff val="15000"/>
                      </a:schemeClr>
                    </a:solidFill>
                  </a:tcPr>
                </a:tc>
                <a:tc>
                  <a:txBody>
                    <a:bodyPr/>
                    <a:lstStyle/>
                    <a:p>
                      <a:pPr marL="342900" indent="-342900">
                        <a:buClr>
                          <a:schemeClr val="bg1"/>
                        </a:buClr>
                        <a:buFont typeface="Arial" panose="020B0604020202020204" pitchFamily="34" charset="0"/>
                        <a:buChar char="•"/>
                      </a:pPr>
                      <a:r>
                        <a:rPr lang="en-US" sz="2000" dirty="0">
                          <a:solidFill>
                            <a:schemeClr val="bg1"/>
                          </a:solidFill>
                        </a:rPr>
                        <a:t>Protects stored data using strong encryption.</a:t>
                      </a:r>
                    </a:p>
                    <a:p>
                      <a:pPr marL="342900" indent="-342900">
                        <a:buClr>
                          <a:schemeClr val="bg1"/>
                        </a:buClr>
                        <a:buFont typeface="Arial" panose="020B0604020202020204" pitchFamily="34" charset="0"/>
                        <a:buChar char="•"/>
                      </a:pPr>
                      <a:r>
                        <a:rPr lang="en-US" sz="2000" dirty="0">
                          <a:solidFill>
                            <a:schemeClr val="bg1"/>
                          </a:solidFill>
                        </a:rPr>
                        <a:t>Applied to databases, backups, and local file storage. </a:t>
                      </a:r>
                    </a:p>
                    <a:p>
                      <a:pPr marL="342900" indent="-342900">
                        <a:buClr>
                          <a:schemeClr val="bg1"/>
                        </a:buClr>
                        <a:buFont typeface="Arial" panose="020B0604020202020204" pitchFamily="34" charset="0"/>
                        <a:buChar char="•"/>
                      </a:pPr>
                      <a:r>
                        <a:rPr lang="en-US" sz="2000" dirty="0">
                          <a:solidFill>
                            <a:schemeClr val="bg1"/>
                          </a:solidFill>
                        </a:rPr>
                        <a:t>Ensures stolen or accessed data remains unreadable.</a:t>
                      </a:r>
                    </a:p>
                  </a:txBody>
                  <a:tcPr>
                    <a:solidFill>
                      <a:schemeClr val="tx1">
                        <a:lumMod val="85000"/>
                        <a:lumOff val="15000"/>
                      </a:schemeClr>
                    </a:solidFill>
                  </a:tcPr>
                </a:tc>
                <a:extLst>
                  <a:ext uri="{0D108BD9-81ED-4DB2-BD59-A6C34878D82A}">
                    <a16:rowId xmlns:a16="http://schemas.microsoft.com/office/drawing/2014/main" val="250315346"/>
                  </a:ext>
                </a:extLst>
              </a:tr>
              <a:tr h="1247000">
                <a:tc>
                  <a:txBody>
                    <a:bodyPr/>
                    <a:lstStyle/>
                    <a:p>
                      <a:r>
                        <a:rPr lang="en-US" sz="2000" dirty="0">
                          <a:solidFill>
                            <a:schemeClr val="bg1"/>
                          </a:solidFill>
                        </a:rPr>
                        <a:t>Encryption in Flight</a:t>
                      </a:r>
                    </a:p>
                  </a:txBody>
                  <a:tcPr>
                    <a:solidFill>
                      <a:schemeClr val="tx1">
                        <a:lumMod val="85000"/>
                        <a:lumOff val="15000"/>
                      </a:schemeClr>
                    </a:solidFill>
                  </a:tcPr>
                </a:tc>
                <a:tc>
                  <a:txBody>
                    <a:bodyPr/>
                    <a:lstStyle/>
                    <a:p>
                      <a:pPr marL="342900" indent="-342900">
                        <a:buClr>
                          <a:schemeClr val="bg1"/>
                        </a:buClr>
                        <a:buFont typeface="Arial" panose="020B0604020202020204" pitchFamily="34" charset="0"/>
                        <a:buChar char="•"/>
                      </a:pPr>
                      <a:r>
                        <a:rPr lang="en-US" sz="2000" dirty="0">
                          <a:solidFill>
                            <a:schemeClr val="bg1"/>
                          </a:solidFill>
                        </a:rPr>
                        <a:t>Secures data as it moves between systems.</a:t>
                      </a:r>
                    </a:p>
                    <a:p>
                      <a:pPr marL="342900" indent="-342900">
                        <a:buClr>
                          <a:schemeClr val="bg1"/>
                        </a:buClr>
                        <a:buFont typeface="Arial" panose="020B0604020202020204" pitchFamily="34" charset="0"/>
                        <a:buChar char="•"/>
                      </a:pPr>
                      <a:r>
                        <a:rPr lang="en-US" sz="2000" dirty="0">
                          <a:solidFill>
                            <a:schemeClr val="bg1"/>
                          </a:solidFill>
                        </a:rPr>
                        <a:t>Prevents interception or tampering during transmission.</a:t>
                      </a:r>
                    </a:p>
                    <a:p>
                      <a:pPr marL="342900" indent="-342900">
                        <a:buClr>
                          <a:schemeClr val="bg1"/>
                        </a:buClr>
                        <a:buFont typeface="Arial" panose="020B0604020202020204" pitchFamily="34" charset="0"/>
                        <a:buChar char="•"/>
                      </a:pPr>
                      <a:r>
                        <a:rPr lang="en-US" sz="2000" dirty="0">
                          <a:solidFill>
                            <a:schemeClr val="bg1"/>
                          </a:solidFill>
                        </a:rPr>
                        <a:t>Applied to API calls, login requests, client–server communication.</a:t>
                      </a:r>
                    </a:p>
                  </a:txBody>
                  <a:tcPr>
                    <a:solidFill>
                      <a:schemeClr val="tx1">
                        <a:lumMod val="85000"/>
                        <a:lumOff val="15000"/>
                      </a:schemeClr>
                    </a:solidFill>
                  </a:tcPr>
                </a:tc>
                <a:extLst>
                  <a:ext uri="{0D108BD9-81ED-4DB2-BD59-A6C34878D82A}">
                    <a16:rowId xmlns:a16="http://schemas.microsoft.com/office/drawing/2014/main" val="2779800117"/>
                  </a:ext>
                </a:extLst>
              </a:tr>
              <a:tr h="1376066">
                <a:tc>
                  <a:txBody>
                    <a:bodyPr/>
                    <a:lstStyle/>
                    <a:p>
                      <a:r>
                        <a:rPr lang="en-US" sz="2000" dirty="0">
                          <a:solidFill>
                            <a:schemeClr val="bg1"/>
                          </a:solidFill>
                        </a:rPr>
                        <a:t>Encryption in Use</a:t>
                      </a:r>
                    </a:p>
                  </a:txBody>
                  <a:tcPr>
                    <a:solidFill>
                      <a:schemeClr val="tx1">
                        <a:lumMod val="85000"/>
                        <a:lumOff val="15000"/>
                      </a:schemeClr>
                    </a:solidFill>
                  </a:tcPr>
                </a:tc>
                <a:tc>
                  <a:txBody>
                    <a:bodyPr/>
                    <a:lstStyle/>
                    <a:p>
                      <a:pPr marL="342900" indent="-342900">
                        <a:buClr>
                          <a:schemeClr val="bg1"/>
                        </a:buClr>
                        <a:buFont typeface="Arial" panose="020B0604020202020204" pitchFamily="34" charset="0"/>
                        <a:buChar char="•"/>
                      </a:pPr>
                      <a:r>
                        <a:rPr lang="en-US" sz="2000" dirty="0">
                          <a:solidFill>
                            <a:schemeClr val="bg1"/>
                          </a:solidFill>
                        </a:rPr>
                        <a:t>Protects sensitive data while in memory.</a:t>
                      </a:r>
                    </a:p>
                    <a:p>
                      <a:pPr marL="342900" indent="-342900">
                        <a:buClr>
                          <a:schemeClr val="bg1"/>
                        </a:buClr>
                        <a:buFont typeface="Arial" panose="020B0604020202020204" pitchFamily="34" charset="0"/>
                        <a:buChar char="•"/>
                      </a:pPr>
                      <a:r>
                        <a:rPr lang="en-US" sz="2000" dirty="0">
                          <a:solidFill>
                            <a:schemeClr val="bg1"/>
                          </a:solidFill>
                        </a:rPr>
                        <a:t>Secure memory handling, access controls, and runtime safeguards.</a:t>
                      </a:r>
                    </a:p>
                    <a:p>
                      <a:pPr marL="342900" indent="-342900">
                        <a:buClr>
                          <a:schemeClr val="bg1"/>
                        </a:buClr>
                        <a:buFont typeface="Arial" panose="020B0604020202020204" pitchFamily="34" charset="0"/>
                        <a:buChar char="•"/>
                      </a:pPr>
                      <a:r>
                        <a:rPr lang="en-US" sz="2000" dirty="0">
                          <a:solidFill>
                            <a:schemeClr val="bg1"/>
                          </a:solidFill>
                        </a:rPr>
                        <a:t>Prevent memory scraping, injection, or compromised processes.</a:t>
                      </a:r>
                    </a:p>
                  </a:txBody>
                  <a:tcPr>
                    <a:solidFill>
                      <a:schemeClr val="tx1">
                        <a:lumMod val="85000"/>
                        <a:lumOff val="15000"/>
                      </a:schemeClr>
                    </a:solidFill>
                  </a:tcPr>
                </a:tc>
                <a:extLst>
                  <a:ext uri="{0D108BD9-81ED-4DB2-BD59-A6C34878D82A}">
                    <a16:rowId xmlns:a16="http://schemas.microsoft.com/office/drawing/2014/main" val="1844107728"/>
                  </a:ext>
                </a:extLst>
              </a:tr>
            </a:tbl>
          </a:graphicData>
        </a:graphic>
      </p:graphicFrame>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44AC0836-DF04-8899-9B6B-EA9FA311A827}"/>
              </a:ext>
            </a:extLst>
          </p:cNvPr>
          <p:cNvGraphicFramePr>
            <a:graphicFrameLocks noGrp="1"/>
          </p:cNvGraphicFramePr>
          <p:nvPr>
            <p:extLst>
              <p:ext uri="{D42A27DB-BD31-4B8C-83A1-F6EECF244321}">
                <p14:modId xmlns:p14="http://schemas.microsoft.com/office/powerpoint/2010/main" val="1858838590"/>
              </p:ext>
            </p:extLst>
          </p:nvPr>
        </p:nvGraphicFramePr>
        <p:xfrm>
          <a:off x="484990" y="2164227"/>
          <a:ext cx="10595113" cy="3735615"/>
        </p:xfrm>
        <a:graphic>
          <a:graphicData uri="http://schemas.openxmlformats.org/drawingml/2006/table">
            <a:tbl>
              <a:tblPr firstRow="1" bandRow="1">
                <a:tableStyleId>{802198C4-3087-4945-87E3-76CBB3509B7E}</a:tableStyleId>
              </a:tblPr>
              <a:tblGrid>
                <a:gridCol w="2441050">
                  <a:extLst>
                    <a:ext uri="{9D8B030D-6E8A-4147-A177-3AD203B41FA5}">
                      <a16:colId xmlns:a16="http://schemas.microsoft.com/office/drawing/2014/main" val="3304179026"/>
                    </a:ext>
                  </a:extLst>
                </a:gridCol>
                <a:gridCol w="8154063">
                  <a:extLst>
                    <a:ext uri="{9D8B030D-6E8A-4147-A177-3AD203B41FA5}">
                      <a16:colId xmlns:a16="http://schemas.microsoft.com/office/drawing/2014/main" val="1845061563"/>
                    </a:ext>
                  </a:extLst>
                </a:gridCol>
              </a:tblGrid>
              <a:tr h="1112549">
                <a:tc>
                  <a:txBody>
                    <a:bodyPr/>
                    <a:lstStyle/>
                    <a:p>
                      <a:r>
                        <a:rPr lang="en-US" sz="2000" dirty="0">
                          <a:solidFill>
                            <a:schemeClr val="bg1"/>
                          </a:solidFill>
                        </a:rPr>
                        <a:t>Authentication</a:t>
                      </a:r>
                    </a:p>
                  </a:txBody>
                  <a:tcPr>
                    <a:solidFill>
                      <a:schemeClr val="tx1">
                        <a:lumMod val="85000"/>
                        <a:lumOff val="15000"/>
                      </a:schemeClr>
                    </a:solidFill>
                  </a:tcPr>
                </a:tc>
                <a:tc>
                  <a:txBody>
                    <a:bodyPr/>
                    <a:lstStyle/>
                    <a:p>
                      <a:pPr marL="0" indent="0">
                        <a:buFont typeface="Arial" panose="020B0604020202020204" pitchFamily="34" charset="0"/>
                        <a:buNone/>
                      </a:pPr>
                      <a:r>
                        <a:rPr lang="en-US" sz="2000" dirty="0">
                          <a:solidFill>
                            <a:schemeClr val="bg1"/>
                          </a:solidFill>
                        </a:rPr>
                        <a:t>Verify user and system identities using strong methods (password rules, MFA, certificates).</a:t>
                      </a:r>
                    </a:p>
                  </a:txBody>
                  <a:tcPr>
                    <a:solidFill>
                      <a:schemeClr val="tx1">
                        <a:lumMod val="85000"/>
                        <a:lumOff val="15000"/>
                      </a:schemeClr>
                    </a:solidFill>
                  </a:tcPr>
                </a:tc>
                <a:extLst>
                  <a:ext uri="{0D108BD9-81ED-4DB2-BD59-A6C34878D82A}">
                    <a16:rowId xmlns:a16="http://schemas.microsoft.com/office/drawing/2014/main" val="250315346"/>
                  </a:ext>
                </a:extLst>
              </a:tr>
              <a:tr h="1247000">
                <a:tc>
                  <a:txBody>
                    <a:bodyPr/>
                    <a:lstStyle/>
                    <a:p>
                      <a:r>
                        <a:rPr lang="en-US" sz="2000" dirty="0">
                          <a:solidFill>
                            <a:schemeClr val="bg1"/>
                          </a:solidFill>
                        </a:rPr>
                        <a:t>Authorization</a:t>
                      </a:r>
                    </a:p>
                  </a:txBody>
                  <a:tcPr>
                    <a:solidFill>
                      <a:schemeClr val="tx1">
                        <a:lumMod val="85000"/>
                        <a:lumOff val="15000"/>
                      </a:schemeClr>
                    </a:solidFill>
                  </a:tcPr>
                </a:tc>
                <a:tc>
                  <a:txBody>
                    <a:bodyPr/>
                    <a:lstStyle/>
                    <a:p>
                      <a:pPr marL="0" indent="0">
                        <a:buFont typeface="Arial" panose="020B0604020202020204" pitchFamily="34" charset="0"/>
                        <a:buNone/>
                      </a:pPr>
                      <a:r>
                        <a:rPr lang="en-US" sz="2000" dirty="0">
                          <a:solidFill>
                            <a:schemeClr val="bg1"/>
                          </a:solidFill>
                        </a:rPr>
                        <a:t>Enforce least-privilege access so users and processes can only perform approved actions.</a:t>
                      </a:r>
                    </a:p>
                  </a:txBody>
                  <a:tcPr>
                    <a:solidFill>
                      <a:schemeClr val="tx1">
                        <a:lumMod val="85000"/>
                        <a:lumOff val="15000"/>
                      </a:schemeClr>
                    </a:solidFill>
                  </a:tcPr>
                </a:tc>
                <a:extLst>
                  <a:ext uri="{0D108BD9-81ED-4DB2-BD59-A6C34878D82A}">
                    <a16:rowId xmlns:a16="http://schemas.microsoft.com/office/drawing/2014/main" val="2779800117"/>
                  </a:ext>
                </a:extLst>
              </a:tr>
              <a:tr h="1376066">
                <a:tc>
                  <a:txBody>
                    <a:bodyPr/>
                    <a:lstStyle/>
                    <a:p>
                      <a:r>
                        <a:rPr lang="en-US" sz="2000" dirty="0">
                          <a:solidFill>
                            <a:schemeClr val="bg1"/>
                          </a:solidFill>
                        </a:rPr>
                        <a:t>Accounting</a:t>
                      </a:r>
                    </a:p>
                  </a:txBody>
                  <a:tcPr>
                    <a:solidFill>
                      <a:schemeClr val="tx1">
                        <a:lumMod val="85000"/>
                        <a:lumOff val="15000"/>
                      </a:schemeClr>
                    </a:solidFill>
                  </a:tcPr>
                </a:tc>
                <a:tc>
                  <a:txBody>
                    <a:bodyPr/>
                    <a:lstStyle/>
                    <a:p>
                      <a:pPr marL="0" indent="0">
                        <a:buFont typeface="Arial" panose="020B0604020202020204" pitchFamily="34" charset="0"/>
                        <a:buNone/>
                      </a:pPr>
                      <a:r>
                        <a:rPr lang="en-US" sz="2000" dirty="0">
                          <a:solidFill>
                            <a:schemeClr val="bg1"/>
                          </a:solidFill>
                        </a:rPr>
                        <a:t>Log and monitor activity to track changes, detect misuse, and support audits.</a:t>
                      </a:r>
                    </a:p>
                  </a:txBody>
                  <a:tcPr>
                    <a:solidFill>
                      <a:schemeClr val="tx1">
                        <a:lumMod val="85000"/>
                        <a:lumOff val="15000"/>
                      </a:schemeClr>
                    </a:solidFill>
                  </a:tcPr>
                </a:tc>
                <a:extLst>
                  <a:ext uri="{0D108BD9-81ED-4DB2-BD59-A6C34878D82A}">
                    <a16:rowId xmlns:a16="http://schemas.microsoft.com/office/drawing/2014/main" val="1844107728"/>
                  </a:ext>
                </a:extLst>
              </a:tr>
            </a:tbl>
          </a:graphicData>
        </a:graphic>
      </p:graphicFrame>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15A9032D-26B8-17C3-7180-60C12ED2BDB4}"/>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4791354F-E037-3045-7C3D-6D64AECFF7F4}"/>
              </a:ext>
            </a:extLst>
          </p:cNvPr>
          <p:cNvSpPr txBox="1">
            <a:spLocks noGrp="1"/>
          </p:cNvSpPr>
          <p:nvPr>
            <p:ph type="title"/>
          </p:nvPr>
        </p:nvSpPr>
        <p:spPr>
          <a:xfrm>
            <a:off x="131197" y="764373"/>
            <a:ext cx="11375003"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 Overview</a:t>
            </a:r>
            <a:endParaRPr dirty="0"/>
          </a:p>
        </p:txBody>
      </p:sp>
      <p:sp>
        <p:nvSpPr>
          <p:cNvPr id="196" name="Google Shape;196;g9504e29505_0_0">
            <a:extLst>
              <a:ext uri="{FF2B5EF4-FFF2-40B4-BE49-F238E27FC236}">
                <a16:creationId xmlns:a16="http://schemas.microsoft.com/office/drawing/2014/main" id="{06034DA4-5030-A058-AEC2-975EB66671D1}"/>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342900"/>
            <a:r>
              <a:rPr lang="en-US" dirty="0"/>
              <a:t>Testing focuses on detecting buffer overflow and unsafe string handling vulnerabilities.</a:t>
            </a:r>
          </a:p>
          <a:p>
            <a:pPr marL="342900"/>
            <a:r>
              <a:rPr lang="en-US" dirty="0"/>
              <a:t>Unit tests verify correct behavior for valid inputs and confirm failures occur safely for invalid inputs.</a:t>
            </a:r>
          </a:p>
          <a:p>
            <a:pPr marL="342900"/>
            <a:r>
              <a:rPr lang="en-US" dirty="0"/>
              <a:t>Tests use the Google Test Framework.</a:t>
            </a:r>
          </a:p>
          <a:p>
            <a:pPr marL="342900"/>
            <a:r>
              <a:rPr lang="en-US" dirty="0"/>
              <a:t>Supports the policy requirement to detect vulnerabilities before deployment.</a:t>
            </a:r>
          </a:p>
        </p:txBody>
      </p:sp>
      <p:pic>
        <p:nvPicPr>
          <p:cNvPr id="197" name="Google Shape;197;g9504e29505_0_0" descr="Green Pace logo">
            <a:extLst>
              <a:ext uri="{FF2B5EF4-FFF2-40B4-BE49-F238E27FC236}">
                <a16:creationId xmlns:a16="http://schemas.microsoft.com/office/drawing/2014/main" id="{4A781A20-877B-A151-D821-63430FCD27C9}"/>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61CE3E58-37E2-0034-A272-158A4CD813EC}"/>
              </a:ext>
            </a:extLst>
          </p:cNvPr>
          <p:cNvPicPr>
            <a:picLocks noChangeAspect="1"/>
          </p:cNvPicPr>
          <p:nvPr/>
        </p:nvPicPr>
        <p:blipFill>
          <a:blip r:embed="rId5"/>
          <a:stretch>
            <a:fillRect/>
          </a:stretch>
        </p:blipFill>
        <p:spPr>
          <a:xfrm>
            <a:off x="548639" y="5362423"/>
            <a:ext cx="5402513" cy="608314"/>
          </a:xfrm>
          <a:prstGeom prst="rect">
            <a:avLst/>
          </a:prstGeom>
        </p:spPr>
      </p:pic>
      <p:pic>
        <p:nvPicPr>
          <p:cNvPr id="5" name="Picture 4" descr="A black screen with white text&#10;&#10;AI-generated content may be incorrect.">
            <a:extLst>
              <a:ext uri="{FF2B5EF4-FFF2-40B4-BE49-F238E27FC236}">
                <a16:creationId xmlns:a16="http://schemas.microsoft.com/office/drawing/2014/main" id="{E95CB5B4-2C35-318B-89B0-C4651D2473F3}"/>
              </a:ext>
            </a:extLst>
          </p:cNvPr>
          <p:cNvPicPr>
            <a:picLocks noChangeAspect="1"/>
          </p:cNvPicPr>
          <p:nvPr/>
        </p:nvPicPr>
        <p:blipFill>
          <a:blip r:embed="rId6"/>
          <a:stretch>
            <a:fillRect/>
          </a:stretch>
        </p:blipFill>
        <p:spPr>
          <a:xfrm>
            <a:off x="6217168" y="5185871"/>
            <a:ext cx="4600889" cy="907756"/>
          </a:xfrm>
          <a:prstGeom prst="rect">
            <a:avLst/>
          </a:prstGeom>
        </p:spPr>
      </p:pic>
    </p:spTree>
    <p:custDataLst>
      <p:tags r:id="rId1"/>
    </p:custDataLst>
    <p:extLst>
      <p:ext uri="{BB962C8B-B14F-4D97-AF65-F5344CB8AC3E}">
        <p14:creationId xmlns:p14="http://schemas.microsoft.com/office/powerpoint/2010/main" val="3183255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86D07F05-37B8-785C-0D77-0A2B8CB2CEB8}"/>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580113BA-963D-E1F2-4DB8-4A4480D33A88}"/>
              </a:ext>
            </a:extLst>
          </p:cNvPr>
          <p:cNvSpPr txBox="1">
            <a:spLocks noGrp="1"/>
          </p:cNvSpPr>
          <p:nvPr>
            <p:ph type="title"/>
          </p:nvPr>
        </p:nvSpPr>
        <p:spPr>
          <a:xfrm>
            <a:off x="131197" y="764373"/>
            <a:ext cx="11375003"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 CanAddToEmptyVector </a:t>
            </a:r>
            <a:endParaRPr dirty="0"/>
          </a:p>
        </p:txBody>
      </p:sp>
      <p:sp>
        <p:nvSpPr>
          <p:cNvPr id="196" name="Google Shape;196;g9504e29505_0_0">
            <a:extLst>
              <a:ext uri="{FF2B5EF4-FFF2-40B4-BE49-F238E27FC236}">
                <a16:creationId xmlns:a16="http://schemas.microsoft.com/office/drawing/2014/main" id="{37B31B96-8863-082B-D429-530BBA3EED62}"/>
              </a:ext>
            </a:extLst>
          </p:cNvPr>
          <p:cNvSpPr txBox="1">
            <a:spLocks noGrp="1"/>
          </p:cNvSpPr>
          <p:nvPr>
            <p:ph type="body" idx="1"/>
          </p:nvPr>
        </p:nvSpPr>
        <p:spPr>
          <a:xfrm>
            <a:off x="826935" y="2154804"/>
            <a:ext cx="10396331"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Positive test that verifies that adding entries to an empty collection increases the size of the collection.</a:t>
            </a:r>
            <a:endParaRPr dirty="0"/>
          </a:p>
        </p:txBody>
      </p:sp>
      <p:pic>
        <p:nvPicPr>
          <p:cNvPr id="197" name="Google Shape;197;g9504e29505_0_0" descr="Green Pace logo">
            <a:extLst>
              <a:ext uri="{FF2B5EF4-FFF2-40B4-BE49-F238E27FC236}">
                <a16:creationId xmlns:a16="http://schemas.microsoft.com/office/drawing/2014/main" id="{6A40FA69-48AD-14C4-3CA3-66EF7917ADD7}"/>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EACDBD70-91CD-1340-9DFB-C4548C8A4168}"/>
              </a:ext>
            </a:extLst>
          </p:cNvPr>
          <p:cNvPicPr>
            <a:picLocks noChangeAspect="1"/>
          </p:cNvPicPr>
          <p:nvPr/>
        </p:nvPicPr>
        <p:blipFill>
          <a:blip r:embed="rId5"/>
          <a:stretch>
            <a:fillRect/>
          </a:stretch>
        </p:blipFill>
        <p:spPr>
          <a:xfrm>
            <a:off x="6096000" y="4400522"/>
            <a:ext cx="5325218" cy="400106"/>
          </a:xfrm>
          <a:prstGeom prst="rect">
            <a:avLst/>
          </a:prstGeom>
        </p:spPr>
      </p:pic>
      <p:pic>
        <p:nvPicPr>
          <p:cNvPr id="5" name="Picture 4" descr="A computer screen shot of a computer code&#10;&#10;AI-generated content may be incorrect.">
            <a:extLst>
              <a:ext uri="{FF2B5EF4-FFF2-40B4-BE49-F238E27FC236}">
                <a16:creationId xmlns:a16="http://schemas.microsoft.com/office/drawing/2014/main" id="{71D35373-B825-5F83-7253-C2A6C41E27E4}"/>
              </a:ext>
            </a:extLst>
          </p:cNvPr>
          <p:cNvPicPr>
            <a:picLocks noChangeAspect="1"/>
          </p:cNvPicPr>
          <p:nvPr/>
        </p:nvPicPr>
        <p:blipFill>
          <a:blip r:embed="rId6"/>
          <a:stretch>
            <a:fillRect/>
          </a:stretch>
        </p:blipFill>
        <p:spPr>
          <a:xfrm>
            <a:off x="885508" y="3088257"/>
            <a:ext cx="5139592" cy="3468630"/>
          </a:xfrm>
          <a:prstGeom prst="rect">
            <a:avLst/>
          </a:prstGeom>
        </p:spPr>
      </p:pic>
    </p:spTree>
    <p:custDataLst>
      <p:tags r:id="rId1"/>
    </p:custDataLst>
    <p:extLst>
      <p:ext uri="{BB962C8B-B14F-4D97-AF65-F5344CB8AC3E}">
        <p14:creationId xmlns:p14="http://schemas.microsoft.com/office/powerpoint/2010/main" val="2099778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504909" y="764373"/>
            <a:ext cx="11001292"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 AtThrowsOutOfRangeException </a:t>
            </a:r>
            <a:endParaRPr dirty="0"/>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Negative test that verifies the at() method throws an exception for an invalid index.</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AC6E912F-A207-B46F-6A55-71E2260761ED}"/>
              </a:ext>
            </a:extLst>
          </p:cNvPr>
          <p:cNvPicPr>
            <a:picLocks noChangeAspect="1"/>
          </p:cNvPicPr>
          <p:nvPr/>
        </p:nvPicPr>
        <p:blipFill>
          <a:blip r:embed="rId5"/>
          <a:stretch>
            <a:fillRect/>
          </a:stretch>
        </p:blipFill>
        <p:spPr>
          <a:xfrm>
            <a:off x="3082173" y="5403811"/>
            <a:ext cx="6027653" cy="426023"/>
          </a:xfrm>
          <a:prstGeom prst="rect">
            <a:avLst/>
          </a:prstGeom>
        </p:spPr>
      </p:pic>
      <p:pic>
        <p:nvPicPr>
          <p:cNvPr id="5" name="Picture 4" descr="A screen shot of a computer code&#10;&#10;AI-generated content may be incorrect.">
            <a:extLst>
              <a:ext uri="{FF2B5EF4-FFF2-40B4-BE49-F238E27FC236}">
                <a16:creationId xmlns:a16="http://schemas.microsoft.com/office/drawing/2014/main" id="{C0407DF5-162C-1202-26FB-FDD55273F77C}"/>
              </a:ext>
            </a:extLst>
          </p:cNvPr>
          <p:cNvPicPr>
            <a:picLocks noChangeAspect="1"/>
          </p:cNvPicPr>
          <p:nvPr/>
        </p:nvPicPr>
        <p:blipFill>
          <a:blip r:embed="rId6"/>
          <a:stretch>
            <a:fillRect/>
          </a:stretch>
        </p:blipFill>
        <p:spPr>
          <a:xfrm>
            <a:off x="2281836" y="3180698"/>
            <a:ext cx="7447437" cy="1834188"/>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47E8F258-0A00-1932-9B43-A0DEEF8218B7}"/>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0D72C9AB-5BDA-0D35-F692-92B80C4695C5}"/>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 ResizeToZero </a:t>
            </a:r>
            <a:endParaRPr dirty="0"/>
          </a:p>
        </p:txBody>
      </p:sp>
      <p:sp>
        <p:nvSpPr>
          <p:cNvPr id="196" name="Google Shape;196;g9504e29505_0_0">
            <a:extLst>
              <a:ext uri="{FF2B5EF4-FFF2-40B4-BE49-F238E27FC236}">
                <a16:creationId xmlns:a16="http://schemas.microsoft.com/office/drawing/2014/main" id="{D5F5325D-6376-FAA9-B67A-CF8B7B8D2708}"/>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Positive Test that verifies that resizing a collection to zero empties the collection.</a:t>
            </a:r>
            <a:endParaRPr dirty="0"/>
          </a:p>
        </p:txBody>
      </p:sp>
      <p:pic>
        <p:nvPicPr>
          <p:cNvPr id="197" name="Google Shape;197;g9504e29505_0_0" descr="Green Pace logo">
            <a:extLst>
              <a:ext uri="{FF2B5EF4-FFF2-40B4-BE49-F238E27FC236}">
                <a16:creationId xmlns:a16="http://schemas.microsoft.com/office/drawing/2014/main" id="{91282064-3258-0721-ADEB-FC008AEBEE28}"/>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6353185B-0BA6-8641-8561-53E425D646CC}"/>
              </a:ext>
            </a:extLst>
          </p:cNvPr>
          <p:cNvPicPr>
            <a:picLocks noChangeAspect="1"/>
          </p:cNvPicPr>
          <p:nvPr/>
        </p:nvPicPr>
        <p:blipFill>
          <a:blip r:embed="rId5"/>
          <a:stretch>
            <a:fillRect/>
          </a:stretch>
        </p:blipFill>
        <p:spPr>
          <a:xfrm>
            <a:off x="6171920" y="4206660"/>
            <a:ext cx="4578106" cy="403783"/>
          </a:xfrm>
          <a:prstGeom prst="rect">
            <a:avLst/>
          </a:prstGeom>
        </p:spPr>
      </p:pic>
      <p:pic>
        <p:nvPicPr>
          <p:cNvPr id="5" name="Picture 4" descr="A computer screen shot of a code&#10;&#10;AI-generated content may be incorrect.">
            <a:extLst>
              <a:ext uri="{FF2B5EF4-FFF2-40B4-BE49-F238E27FC236}">
                <a16:creationId xmlns:a16="http://schemas.microsoft.com/office/drawing/2014/main" id="{65A0090F-972C-0FBE-7DD3-DB4D3A63CDCB}"/>
              </a:ext>
            </a:extLst>
          </p:cNvPr>
          <p:cNvPicPr>
            <a:picLocks noChangeAspect="1"/>
          </p:cNvPicPr>
          <p:nvPr/>
        </p:nvPicPr>
        <p:blipFill>
          <a:blip r:embed="rId6"/>
          <a:stretch>
            <a:fillRect/>
          </a:stretch>
        </p:blipFill>
        <p:spPr>
          <a:xfrm>
            <a:off x="1149005" y="3291502"/>
            <a:ext cx="4559710" cy="2604390"/>
          </a:xfrm>
          <a:prstGeom prst="rect">
            <a:avLst/>
          </a:prstGeom>
        </p:spPr>
      </p:pic>
    </p:spTree>
    <p:custDataLst>
      <p:tags r:id="rId1"/>
    </p:custDataLst>
    <p:extLst>
      <p:ext uri="{BB962C8B-B14F-4D97-AF65-F5344CB8AC3E}">
        <p14:creationId xmlns:p14="http://schemas.microsoft.com/office/powerpoint/2010/main" val="3379227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2166AC39-AD1F-A572-F0B3-BA697316A314}"/>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24A22E58-5250-13D5-9087-FB374BF9ED62}"/>
              </a:ext>
            </a:extLst>
          </p:cNvPr>
          <p:cNvSpPr txBox="1">
            <a:spLocks noGrp="1"/>
          </p:cNvSpPr>
          <p:nvPr>
            <p:ph type="title"/>
          </p:nvPr>
        </p:nvSpPr>
        <p:spPr>
          <a:xfrm>
            <a:off x="433346" y="764373"/>
            <a:ext cx="11072854"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 ResizeIncreasesCollection </a:t>
            </a:r>
            <a:endParaRPr dirty="0"/>
          </a:p>
        </p:txBody>
      </p:sp>
      <p:sp>
        <p:nvSpPr>
          <p:cNvPr id="196" name="Google Shape;196;g9504e29505_0_0">
            <a:extLst>
              <a:ext uri="{FF2B5EF4-FFF2-40B4-BE49-F238E27FC236}">
                <a16:creationId xmlns:a16="http://schemas.microsoft.com/office/drawing/2014/main" id="{29DA4EF7-FC45-46A4-F69B-F1455D368B9C}"/>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Positive test that verifies that the resize() method increases the collection size when the new size is greater than the initial size.</a:t>
            </a:r>
            <a:endParaRPr dirty="0"/>
          </a:p>
        </p:txBody>
      </p:sp>
      <p:pic>
        <p:nvPicPr>
          <p:cNvPr id="197" name="Google Shape;197;g9504e29505_0_0" descr="Green Pace logo">
            <a:extLst>
              <a:ext uri="{FF2B5EF4-FFF2-40B4-BE49-F238E27FC236}">
                <a16:creationId xmlns:a16="http://schemas.microsoft.com/office/drawing/2014/main" id="{E4169045-5F53-D4E7-7E03-6ABE57D59B69}"/>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C8D903A6-D4E9-7E1D-5BD3-889A41B29DB6}"/>
              </a:ext>
            </a:extLst>
          </p:cNvPr>
          <p:cNvPicPr>
            <a:picLocks noChangeAspect="1"/>
          </p:cNvPicPr>
          <p:nvPr/>
        </p:nvPicPr>
        <p:blipFill>
          <a:blip r:embed="rId5"/>
          <a:stretch>
            <a:fillRect/>
          </a:stretch>
        </p:blipFill>
        <p:spPr>
          <a:xfrm>
            <a:off x="6615486" y="4206660"/>
            <a:ext cx="5290774" cy="355506"/>
          </a:xfrm>
          <a:prstGeom prst="rect">
            <a:avLst/>
          </a:prstGeom>
        </p:spPr>
      </p:pic>
      <p:pic>
        <p:nvPicPr>
          <p:cNvPr id="5" name="Picture 4" descr="A computer screen with white text and green text&#10;&#10;AI-generated content may be incorrect.">
            <a:extLst>
              <a:ext uri="{FF2B5EF4-FFF2-40B4-BE49-F238E27FC236}">
                <a16:creationId xmlns:a16="http://schemas.microsoft.com/office/drawing/2014/main" id="{A6E4F910-63DB-BBBC-584F-EB2AAED6A233}"/>
              </a:ext>
            </a:extLst>
          </p:cNvPr>
          <p:cNvPicPr>
            <a:picLocks noChangeAspect="1"/>
          </p:cNvPicPr>
          <p:nvPr/>
        </p:nvPicPr>
        <p:blipFill>
          <a:blip r:embed="rId6"/>
          <a:stretch>
            <a:fillRect/>
          </a:stretch>
        </p:blipFill>
        <p:spPr>
          <a:xfrm>
            <a:off x="581743" y="3112827"/>
            <a:ext cx="5896106" cy="2846676"/>
          </a:xfrm>
          <a:prstGeom prst="rect">
            <a:avLst/>
          </a:prstGeom>
        </p:spPr>
      </p:pic>
    </p:spTree>
    <p:custDataLst>
      <p:tags r:id="rId1"/>
    </p:custDataLst>
    <p:extLst>
      <p:ext uri="{BB962C8B-B14F-4D97-AF65-F5344CB8AC3E}">
        <p14:creationId xmlns:p14="http://schemas.microsoft.com/office/powerpoint/2010/main" val="1573974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16AEA1EC-9A69-747A-65C1-F18C4251B82D}"/>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0E8B72A1-B2C0-2A2A-5ED7-6B548522063C}"/>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 </a:t>
            </a:r>
            <a:r>
              <a:rPr lang="en-US" dirty="0" err="1"/>
              <a:t>AtThrowsAfterClear</a:t>
            </a:r>
            <a:endParaRPr dirty="0"/>
          </a:p>
        </p:txBody>
      </p:sp>
      <p:sp>
        <p:nvSpPr>
          <p:cNvPr id="196" name="Google Shape;196;g9504e29505_0_0">
            <a:extLst>
              <a:ext uri="{FF2B5EF4-FFF2-40B4-BE49-F238E27FC236}">
                <a16:creationId xmlns:a16="http://schemas.microsoft.com/office/drawing/2014/main" id="{04C9A270-F573-99C8-079E-D988EEF94F98}"/>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Negative test that verifies that the at() method throws an </a:t>
            </a:r>
            <a:r>
              <a:rPr lang="en-US" dirty="0" err="1"/>
              <a:t>out_of_range</a:t>
            </a:r>
            <a:r>
              <a:rPr lang="en-US" dirty="0"/>
              <a:t> exception after clearing the collection.</a:t>
            </a:r>
            <a:endParaRPr dirty="0"/>
          </a:p>
        </p:txBody>
      </p:sp>
      <p:pic>
        <p:nvPicPr>
          <p:cNvPr id="197" name="Google Shape;197;g9504e29505_0_0" descr="Green Pace logo">
            <a:extLst>
              <a:ext uri="{FF2B5EF4-FFF2-40B4-BE49-F238E27FC236}">
                <a16:creationId xmlns:a16="http://schemas.microsoft.com/office/drawing/2014/main" id="{3A1754B2-F057-1D4E-947B-88087AD4D665}"/>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FB3AF277-8EA5-0BEA-1820-4277DF7FCBCE}"/>
              </a:ext>
            </a:extLst>
          </p:cNvPr>
          <p:cNvPicPr>
            <a:picLocks noChangeAspect="1"/>
          </p:cNvPicPr>
          <p:nvPr/>
        </p:nvPicPr>
        <p:blipFill>
          <a:blip r:embed="rId5"/>
          <a:stretch>
            <a:fillRect/>
          </a:stretch>
        </p:blipFill>
        <p:spPr>
          <a:xfrm>
            <a:off x="3144354" y="5640937"/>
            <a:ext cx="5007690" cy="374201"/>
          </a:xfrm>
          <a:prstGeom prst="rect">
            <a:avLst/>
          </a:prstGeom>
        </p:spPr>
      </p:pic>
      <p:pic>
        <p:nvPicPr>
          <p:cNvPr id="5" name="Picture 4" descr="A computer screen with white text&#10;&#10;AI-generated content may be incorrect.">
            <a:extLst>
              <a:ext uri="{FF2B5EF4-FFF2-40B4-BE49-F238E27FC236}">
                <a16:creationId xmlns:a16="http://schemas.microsoft.com/office/drawing/2014/main" id="{B1B62CE6-AA75-2EEF-EB00-7565158582DB}"/>
              </a:ext>
            </a:extLst>
          </p:cNvPr>
          <p:cNvPicPr>
            <a:picLocks noChangeAspect="1"/>
          </p:cNvPicPr>
          <p:nvPr/>
        </p:nvPicPr>
        <p:blipFill>
          <a:blip r:embed="rId6"/>
          <a:stretch>
            <a:fillRect/>
          </a:stretch>
        </p:blipFill>
        <p:spPr>
          <a:xfrm>
            <a:off x="2553510" y="3353282"/>
            <a:ext cx="6189378" cy="1909412"/>
          </a:xfrm>
          <a:prstGeom prst="rect">
            <a:avLst/>
          </a:prstGeom>
        </p:spPr>
      </p:pic>
    </p:spTree>
    <p:custDataLst>
      <p:tags r:id="rId1"/>
    </p:custDataLst>
    <p:extLst>
      <p:ext uri="{BB962C8B-B14F-4D97-AF65-F5344CB8AC3E}">
        <p14:creationId xmlns:p14="http://schemas.microsoft.com/office/powerpoint/2010/main" val="1953348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80762F46-214A-A8C5-6218-27CEB0ACB0CE}"/>
              </a:ext>
            </a:extLst>
          </p:cNvPr>
          <p:cNvGraphicFramePr>
            <a:graphicFrameLocks noGrp="1"/>
          </p:cNvGraphicFramePr>
          <p:nvPr>
            <p:extLst>
              <p:ext uri="{D42A27DB-BD31-4B8C-83A1-F6EECF244321}">
                <p14:modId xmlns:p14="http://schemas.microsoft.com/office/powerpoint/2010/main" val="4259000758"/>
              </p:ext>
            </p:extLst>
          </p:nvPr>
        </p:nvGraphicFramePr>
        <p:xfrm>
          <a:off x="600324" y="1880483"/>
          <a:ext cx="10483750" cy="4718674"/>
        </p:xfrm>
        <a:graphic>
          <a:graphicData uri="http://schemas.openxmlformats.org/drawingml/2006/table">
            <a:tbl>
              <a:tblPr firstRow="1" bandRow="1">
                <a:tableStyleId>{802198C4-3087-4945-87E3-76CBB3509B7E}</a:tableStyleId>
              </a:tblPr>
              <a:tblGrid>
                <a:gridCol w="1407380">
                  <a:extLst>
                    <a:ext uri="{9D8B030D-6E8A-4147-A177-3AD203B41FA5}">
                      <a16:colId xmlns:a16="http://schemas.microsoft.com/office/drawing/2014/main" val="668627234"/>
                    </a:ext>
                  </a:extLst>
                </a:gridCol>
                <a:gridCol w="1697604">
                  <a:extLst>
                    <a:ext uri="{9D8B030D-6E8A-4147-A177-3AD203B41FA5}">
                      <a16:colId xmlns:a16="http://schemas.microsoft.com/office/drawing/2014/main" val="111717035"/>
                    </a:ext>
                  </a:extLst>
                </a:gridCol>
                <a:gridCol w="7378766">
                  <a:extLst>
                    <a:ext uri="{9D8B030D-6E8A-4147-A177-3AD203B41FA5}">
                      <a16:colId xmlns:a16="http://schemas.microsoft.com/office/drawing/2014/main" val="145895585"/>
                    </a:ext>
                  </a:extLst>
                </a:gridCol>
              </a:tblGrid>
              <a:tr h="456644">
                <a:tc>
                  <a:txBody>
                    <a:bodyPr/>
                    <a:lstStyle/>
                    <a:p>
                      <a:r>
                        <a:rPr lang="en-US" b="1" dirty="0">
                          <a:solidFill>
                            <a:schemeClr val="bg1"/>
                          </a:solidFill>
                        </a:rPr>
                        <a:t>Phase</a:t>
                      </a:r>
                    </a:p>
                  </a:txBody>
                  <a:tcPr>
                    <a:solidFill>
                      <a:schemeClr val="bg2">
                        <a:lumMod val="50000"/>
                      </a:schemeClr>
                    </a:solidFill>
                  </a:tcPr>
                </a:tc>
                <a:tc>
                  <a:txBody>
                    <a:bodyPr/>
                    <a:lstStyle/>
                    <a:p>
                      <a:r>
                        <a:rPr lang="en-US" b="1" dirty="0">
                          <a:solidFill>
                            <a:schemeClr val="bg1"/>
                          </a:solidFill>
                        </a:rPr>
                        <a:t>Component</a:t>
                      </a:r>
                    </a:p>
                  </a:txBody>
                  <a:tcPr>
                    <a:solidFill>
                      <a:schemeClr val="bg2">
                        <a:lumMod val="50000"/>
                      </a:schemeClr>
                    </a:solidFill>
                  </a:tcPr>
                </a:tc>
                <a:tc>
                  <a:txBody>
                    <a:bodyPr/>
                    <a:lstStyle/>
                    <a:p>
                      <a:r>
                        <a:rPr lang="en-US" b="1" dirty="0">
                          <a:solidFill>
                            <a:schemeClr val="bg1"/>
                          </a:solidFill>
                        </a:rPr>
                        <a:t>Description</a:t>
                      </a:r>
                    </a:p>
                  </a:txBody>
                  <a:tcPr>
                    <a:solidFill>
                      <a:schemeClr val="bg2">
                        <a:lumMod val="50000"/>
                      </a:schemeClr>
                    </a:solidFill>
                  </a:tcPr>
                </a:tc>
                <a:extLst>
                  <a:ext uri="{0D108BD9-81ED-4DB2-BD59-A6C34878D82A}">
                    <a16:rowId xmlns:a16="http://schemas.microsoft.com/office/drawing/2014/main" val="1643164112"/>
                  </a:ext>
                </a:extLst>
              </a:tr>
              <a:tr h="456644">
                <a:tc rowSpan="4">
                  <a:txBody>
                    <a:bodyPr/>
                    <a:lstStyle/>
                    <a:p>
                      <a:r>
                        <a:rPr lang="en-US" dirty="0">
                          <a:solidFill>
                            <a:schemeClr val="bg1"/>
                          </a:solidFill>
                        </a:rPr>
                        <a:t>Pre-Production</a:t>
                      </a:r>
                    </a:p>
                  </a:txBody>
                  <a:tcPr>
                    <a:solidFill>
                      <a:schemeClr val="bg2">
                        <a:lumMod val="50000"/>
                      </a:schemeClr>
                    </a:solidFill>
                  </a:tcPr>
                </a:tc>
                <a:tc>
                  <a:txBody>
                    <a:bodyPr/>
                    <a:lstStyle/>
                    <a:p>
                      <a:r>
                        <a:rPr lang="en-US" dirty="0">
                          <a:solidFill>
                            <a:schemeClr val="bg1"/>
                          </a:solidFill>
                        </a:rPr>
                        <a:t>Assess and Plan</a:t>
                      </a:r>
                    </a:p>
                  </a:txBody>
                  <a:tcPr>
                    <a:solidFill>
                      <a:schemeClr val="bg2">
                        <a:lumMod val="50000"/>
                      </a:schemeClr>
                    </a:solidFill>
                  </a:tcPr>
                </a:tc>
                <a:tc>
                  <a:txBody>
                    <a:bodyPr/>
                    <a:lstStyle/>
                    <a:p>
                      <a:r>
                        <a:rPr lang="en-US" dirty="0">
                          <a:solidFill>
                            <a:schemeClr val="bg1"/>
                          </a:solidFill>
                        </a:rPr>
                        <a:t>Threat modeling and risk assessment are used to identify high-priority vulnerabilities and determine where automation and testing are required.</a:t>
                      </a:r>
                    </a:p>
                  </a:txBody>
                  <a:tcPr>
                    <a:solidFill>
                      <a:schemeClr val="bg2">
                        <a:lumMod val="50000"/>
                      </a:schemeClr>
                    </a:solidFill>
                  </a:tcPr>
                </a:tc>
                <a:extLst>
                  <a:ext uri="{0D108BD9-81ED-4DB2-BD59-A6C34878D82A}">
                    <a16:rowId xmlns:a16="http://schemas.microsoft.com/office/drawing/2014/main" val="3674706088"/>
                  </a:ext>
                </a:extLst>
              </a:tr>
              <a:tr h="456644">
                <a:tc vMerge="1">
                  <a:txBody>
                    <a:bodyPr/>
                    <a:lstStyle/>
                    <a:p>
                      <a:endParaRPr lang="en-US" dirty="0">
                        <a:solidFill>
                          <a:schemeClr val="bg1"/>
                        </a:solidFill>
                      </a:endParaRPr>
                    </a:p>
                  </a:txBody>
                  <a:tcPr/>
                </a:tc>
                <a:tc>
                  <a:txBody>
                    <a:bodyPr/>
                    <a:lstStyle/>
                    <a:p>
                      <a:r>
                        <a:rPr lang="en-US" dirty="0">
                          <a:solidFill>
                            <a:schemeClr val="bg1"/>
                          </a:solidFill>
                        </a:rPr>
                        <a:t>Design</a:t>
                      </a:r>
                    </a:p>
                  </a:txBody>
                  <a:tcPr>
                    <a:solidFill>
                      <a:schemeClr val="bg2">
                        <a:lumMod val="50000"/>
                      </a:schemeClr>
                    </a:solidFill>
                  </a:tcPr>
                </a:tc>
                <a:tc>
                  <a:txBody>
                    <a:bodyPr/>
                    <a:lstStyle/>
                    <a:p>
                      <a:r>
                        <a:rPr lang="en-US" dirty="0">
                          <a:solidFill>
                            <a:schemeClr val="bg1"/>
                          </a:solidFill>
                        </a:rPr>
                        <a:t>System architecture is designed using secure design principles such as defense in depth and least privilege.</a:t>
                      </a:r>
                    </a:p>
                  </a:txBody>
                  <a:tcPr>
                    <a:solidFill>
                      <a:schemeClr val="bg2">
                        <a:lumMod val="50000"/>
                      </a:schemeClr>
                    </a:solidFill>
                  </a:tcPr>
                </a:tc>
                <a:extLst>
                  <a:ext uri="{0D108BD9-81ED-4DB2-BD59-A6C34878D82A}">
                    <a16:rowId xmlns:a16="http://schemas.microsoft.com/office/drawing/2014/main" val="687888712"/>
                  </a:ext>
                </a:extLst>
              </a:tr>
              <a:tr h="456644">
                <a:tc vMerge="1">
                  <a:txBody>
                    <a:bodyPr/>
                    <a:lstStyle/>
                    <a:p>
                      <a:endParaRPr lang="en-US" dirty="0">
                        <a:solidFill>
                          <a:schemeClr val="bg1"/>
                        </a:solidFill>
                      </a:endParaRPr>
                    </a:p>
                  </a:txBody>
                  <a:tcPr/>
                </a:tc>
                <a:tc>
                  <a:txBody>
                    <a:bodyPr/>
                    <a:lstStyle/>
                    <a:p>
                      <a:r>
                        <a:rPr lang="en-US" dirty="0">
                          <a:solidFill>
                            <a:schemeClr val="bg1"/>
                          </a:solidFill>
                        </a:rPr>
                        <a:t>Build</a:t>
                      </a:r>
                    </a:p>
                  </a:txBody>
                  <a:tcPr>
                    <a:solidFill>
                      <a:schemeClr val="bg2">
                        <a:lumMod val="50000"/>
                      </a:schemeClr>
                    </a:solidFill>
                  </a:tcPr>
                </a:tc>
                <a:tc>
                  <a:txBody>
                    <a:bodyPr/>
                    <a:lstStyle/>
                    <a:p>
                      <a:r>
                        <a:rPr lang="en-US" dirty="0">
                          <a:solidFill>
                            <a:schemeClr val="bg1"/>
                          </a:solidFill>
                        </a:rPr>
                        <a:t>Developers use secure IDE configurations and compilers with warnings enabled.</a:t>
                      </a:r>
                    </a:p>
                  </a:txBody>
                  <a:tcPr>
                    <a:solidFill>
                      <a:schemeClr val="bg2">
                        <a:lumMod val="50000"/>
                      </a:schemeClr>
                    </a:solidFill>
                  </a:tcPr>
                </a:tc>
                <a:extLst>
                  <a:ext uri="{0D108BD9-81ED-4DB2-BD59-A6C34878D82A}">
                    <a16:rowId xmlns:a16="http://schemas.microsoft.com/office/drawing/2014/main" val="3960663756"/>
                  </a:ext>
                </a:extLst>
              </a:tr>
              <a:tr h="456644">
                <a:tc vMerge="1">
                  <a:txBody>
                    <a:bodyPr/>
                    <a:lstStyle/>
                    <a:p>
                      <a:endParaRPr lang="en-US" dirty="0">
                        <a:solidFill>
                          <a:schemeClr val="bg1"/>
                        </a:solidFill>
                      </a:endParaRPr>
                    </a:p>
                  </a:txBody>
                  <a:tcPr/>
                </a:tc>
                <a:tc>
                  <a:txBody>
                    <a:bodyPr/>
                    <a:lstStyle/>
                    <a:p>
                      <a:r>
                        <a:rPr lang="en-US" dirty="0">
                          <a:solidFill>
                            <a:schemeClr val="bg1"/>
                          </a:solidFill>
                        </a:rPr>
                        <a:t>Verify and Test</a:t>
                      </a:r>
                    </a:p>
                  </a:txBody>
                  <a:tcPr>
                    <a:solidFill>
                      <a:schemeClr val="bg2">
                        <a:lumMod val="50000"/>
                      </a:schemeClr>
                    </a:solidFill>
                  </a:tcPr>
                </a:tc>
                <a:tc>
                  <a:txBody>
                    <a:bodyPr/>
                    <a:lstStyle/>
                    <a:p>
                      <a:r>
                        <a:rPr lang="en-US" dirty="0">
                          <a:solidFill>
                            <a:schemeClr val="bg1"/>
                          </a:solidFill>
                        </a:rPr>
                        <a:t>Automated unit testing and static code analysis tools are executed to detect vulnerabilities such as buffer overflows and unsafe memory usage.</a:t>
                      </a:r>
                    </a:p>
                  </a:txBody>
                  <a:tcPr>
                    <a:solidFill>
                      <a:schemeClr val="bg2">
                        <a:lumMod val="50000"/>
                      </a:schemeClr>
                    </a:solidFill>
                  </a:tcPr>
                </a:tc>
                <a:extLst>
                  <a:ext uri="{0D108BD9-81ED-4DB2-BD59-A6C34878D82A}">
                    <a16:rowId xmlns:a16="http://schemas.microsoft.com/office/drawing/2014/main" val="1403128666"/>
                  </a:ext>
                </a:extLst>
              </a:tr>
              <a:tr h="638051">
                <a:tc rowSpan="4">
                  <a:txBody>
                    <a:bodyPr/>
                    <a:lstStyle/>
                    <a:p>
                      <a:r>
                        <a:rPr lang="en-US" dirty="0">
                          <a:solidFill>
                            <a:schemeClr val="bg1"/>
                          </a:solidFill>
                        </a:rPr>
                        <a:t>Production</a:t>
                      </a:r>
                    </a:p>
                  </a:txBody>
                  <a:tcPr>
                    <a:solidFill>
                      <a:schemeClr val="bg2">
                        <a:lumMod val="50000"/>
                      </a:schemeClr>
                    </a:solidFill>
                  </a:tcPr>
                </a:tc>
                <a:tc>
                  <a:txBody>
                    <a:bodyPr/>
                    <a:lstStyle/>
                    <a:p>
                      <a:r>
                        <a:rPr lang="en-US" dirty="0">
                          <a:solidFill>
                            <a:schemeClr val="bg1"/>
                          </a:solidFill>
                        </a:rPr>
                        <a:t>Transition and Health Check</a:t>
                      </a:r>
                    </a:p>
                  </a:txBody>
                  <a:tcPr>
                    <a:solidFill>
                      <a:schemeClr val="bg2">
                        <a:lumMod val="50000"/>
                      </a:schemeClr>
                    </a:solidFill>
                  </a:tcPr>
                </a:tc>
                <a:tc>
                  <a:txBody>
                    <a:bodyPr/>
                    <a:lstStyle/>
                    <a:p>
                      <a:r>
                        <a:rPr lang="en-US" dirty="0">
                          <a:solidFill>
                            <a:schemeClr val="bg1"/>
                          </a:solidFill>
                        </a:rPr>
                        <a:t>Security checks are performed during deployment to ensure configurations, permissions, and encryption settings match policy requirements before the application goes live.</a:t>
                      </a:r>
                    </a:p>
                  </a:txBody>
                  <a:tcPr>
                    <a:solidFill>
                      <a:schemeClr val="bg2">
                        <a:lumMod val="50000"/>
                      </a:schemeClr>
                    </a:solidFill>
                  </a:tcPr>
                </a:tc>
                <a:extLst>
                  <a:ext uri="{0D108BD9-81ED-4DB2-BD59-A6C34878D82A}">
                    <a16:rowId xmlns:a16="http://schemas.microsoft.com/office/drawing/2014/main" val="590784340"/>
                  </a:ext>
                </a:extLst>
              </a:tr>
              <a:tr h="456644">
                <a:tc vMerge="1">
                  <a:txBody>
                    <a:bodyPr/>
                    <a:lstStyle/>
                    <a:p>
                      <a:endParaRPr lang="en-US" dirty="0">
                        <a:solidFill>
                          <a:schemeClr val="bg1"/>
                        </a:solidFill>
                      </a:endParaRPr>
                    </a:p>
                  </a:txBody>
                  <a:tcPr/>
                </a:tc>
                <a:tc>
                  <a:txBody>
                    <a:bodyPr/>
                    <a:lstStyle/>
                    <a:p>
                      <a:r>
                        <a:rPr lang="en-US" dirty="0">
                          <a:solidFill>
                            <a:schemeClr val="bg1"/>
                          </a:solidFill>
                        </a:rPr>
                        <a:t>Monitor and Detect</a:t>
                      </a:r>
                    </a:p>
                  </a:txBody>
                  <a:tcPr>
                    <a:solidFill>
                      <a:schemeClr val="bg2">
                        <a:lumMod val="50000"/>
                      </a:schemeClr>
                    </a:solidFill>
                  </a:tcPr>
                </a:tc>
                <a:tc>
                  <a:txBody>
                    <a:bodyPr/>
                    <a:lstStyle/>
                    <a:p>
                      <a:r>
                        <a:rPr lang="en-US" dirty="0">
                          <a:solidFill>
                            <a:schemeClr val="bg1"/>
                          </a:solidFill>
                        </a:rPr>
                        <a:t>Logging and monitoring tools track application behavior and system activity in real time.</a:t>
                      </a:r>
                    </a:p>
                  </a:txBody>
                  <a:tcPr>
                    <a:solidFill>
                      <a:schemeClr val="bg2">
                        <a:lumMod val="50000"/>
                      </a:schemeClr>
                    </a:solidFill>
                  </a:tcPr>
                </a:tc>
                <a:extLst>
                  <a:ext uri="{0D108BD9-81ED-4DB2-BD59-A6C34878D82A}">
                    <a16:rowId xmlns:a16="http://schemas.microsoft.com/office/drawing/2014/main" val="965350228"/>
                  </a:ext>
                </a:extLst>
              </a:tr>
              <a:tr h="456644">
                <a:tc vMerge="1">
                  <a:txBody>
                    <a:bodyPr/>
                    <a:lstStyle/>
                    <a:p>
                      <a:endParaRPr lang="en-US" dirty="0">
                        <a:solidFill>
                          <a:schemeClr val="bg1"/>
                        </a:solidFill>
                      </a:endParaRPr>
                    </a:p>
                  </a:txBody>
                  <a:tcPr/>
                </a:tc>
                <a:tc>
                  <a:txBody>
                    <a:bodyPr/>
                    <a:lstStyle/>
                    <a:p>
                      <a:r>
                        <a:rPr lang="en-US" dirty="0">
                          <a:solidFill>
                            <a:schemeClr val="bg1"/>
                          </a:solidFill>
                        </a:rPr>
                        <a:t>Respond</a:t>
                      </a:r>
                    </a:p>
                  </a:txBody>
                  <a:tcPr>
                    <a:solidFill>
                      <a:schemeClr val="bg2">
                        <a:lumMod val="50000"/>
                      </a:schemeClr>
                    </a:solidFill>
                  </a:tcPr>
                </a:tc>
                <a:tc>
                  <a:txBody>
                    <a:bodyPr/>
                    <a:lstStyle/>
                    <a:p>
                      <a:r>
                        <a:rPr lang="en-US" dirty="0">
                          <a:solidFill>
                            <a:schemeClr val="bg1"/>
                          </a:solidFill>
                        </a:rPr>
                        <a:t>Incident response procedures are triggered when security events are detected. Logs and audit data support investigation, containment, and remediation of identified issues.</a:t>
                      </a:r>
                    </a:p>
                  </a:txBody>
                  <a:tcPr>
                    <a:solidFill>
                      <a:schemeClr val="bg2">
                        <a:lumMod val="50000"/>
                      </a:schemeClr>
                    </a:solidFill>
                  </a:tcPr>
                </a:tc>
                <a:extLst>
                  <a:ext uri="{0D108BD9-81ED-4DB2-BD59-A6C34878D82A}">
                    <a16:rowId xmlns:a16="http://schemas.microsoft.com/office/drawing/2014/main" val="3676750122"/>
                  </a:ext>
                </a:extLst>
              </a:tr>
              <a:tr h="638051">
                <a:tc vMerge="1">
                  <a:txBody>
                    <a:bodyPr/>
                    <a:lstStyle/>
                    <a:p>
                      <a:endParaRPr lang="en-US" dirty="0">
                        <a:solidFill>
                          <a:schemeClr val="bg1"/>
                        </a:solidFill>
                      </a:endParaRPr>
                    </a:p>
                  </a:txBody>
                  <a:tcPr/>
                </a:tc>
                <a:tc>
                  <a:txBody>
                    <a:bodyPr/>
                    <a:lstStyle/>
                    <a:p>
                      <a:r>
                        <a:rPr lang="en-US" dirty="0">
                          <a:solidFill>
                            <a:schemeClr val="bg1"/>
                          </a:solidFill>
                        </a:rPr>
                        <a:t>Maintain and Stabilize</a:t>
                      </a:r>
                    </a:p>
                  </a:txBody>
                  <a:tcPr>
                    <a:solidFill>
                      <a:schemeClr val="bg2">
                        <a:lumMod val="50000"/>
                      </a:schemeClr>
                    </a:solidFill>
                  </a:tcPr>
                </a:tc>
                <a:tc>
                  <a:txBody>
                    <a:bodyPr/>
                    <a:lstStyle/>
                    <a:p>
                      <a:r>
                        <a:rPr lang="en-US" dirty="0">
                          <a:solidFill>
                            <a:schemeClr val="bg1"/>
                          </a:solidFill>
                        </a:rPr>
                        <a:t>Ongoing maintenance includes applying patches, updating dependencies, and refining automated tests and security tools.</a:t>
                      </a:r>
                    </a:p>
                  </a:txBody>
                  <a:tcPr>
                    <a:solidFill>
                      <a:schemeClr val="bg2">
                        <a:lumMod val="50000"/>
                      </a:schemeClr>
                    </a:solidFill>
                  </a:tcPr>
                </a:tc>
                <a:extLst>
                  <a:ext uri="{0D108BD9-81ED-4DB2-BD59-A6C34878D82A}">
                    <a16:rowId xmlns:a16="http://schemas.microsoft.com/office/drawing/2014/main" val="2848333306"/>
                  </a:ext>
                </a:extLst>
              </a:tr>
            </a:tbl>
          </a:graphicData>
        </a:graphic>
      </p:graphicFrame>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48BB26AF-4EB9-5A4E-88C8-34122E4CBBD7}"/>
              </a:ext>
            </a:extLst>
          </p:cNvPr>
          <p:cNvGraphicFramePr>
            <a:graphicFrameLocks noGrp="1"/>
          </p:cNvGraphicFramePr>
          <p:nvPr>
            <p:extLst>
              <p:ext uri="{D42A27DB-BD31-4B8C-83A1-F6EECF244321}">
                <p14:modId xmlns:p14="http://schemas.microsoft.com/office/powerpoint/2010/main" val="1668392674"/>
              </p:ext>
            </p:extLst>
          </p:nvPr>
        </p:nvGraphicFramePr>
        <p:xfrm>
          <a:off x="1089770" y="2091193"/>
          <a:ext cx="9386073" cy="3849757"/>
        </p:xfrm>
        <a:graphic>
          <a:graphicData uri="http://schemas.openxmlformats.org/drawingml/2006/table">
            <a:tbl>
              <a:tblPr firstRow="1" bandRow="1">
                <a:tableStyleId>{802198C4-3087-4945-87E3-76CBB3509B7E}</a:tableStyleId>
              </a:tblPr>
              <a:tblGrid>
                <a:gridCol w="1740894">
                  <a:extLst>
                    <a:ext uri="{9D8B030D-6E8A-4147-A177-3AD203B41FA5}">
                      <a16:colId xmlns:a16="http://schemas.microsoft.com/office/drawing/2014/main" val="3409904766"/>
                    </a:ext>
                  </a:extLst>
                </a:gridCol>
                <a:gridCol w="3582063">
                  <a:extLst>
                    <a:ext uri="{9D8B030D-6E8A-4147-A177-3AD203B41FA5}">
                      <a16:colId xmlns:a16="http://schemas.microsoft.com/office/drawing/2014/main" val="3030318064"/>
                    </a:ext>
                  </a:extLst>
                </a:gridCol>
                <a:gridCol w="4063116">
                  <a:extLst>
                    <a:ext uri="{9D8B030D-6E8A-4147-A177-3AD203B41FA5}">
                      <a16:colId xmlns:a16="http://schemas.microsoft.com/office/drawing/2014/main" val="388376451"/>
                    </a:ext>
                  </a:extLst>
                </a:gridCol>
              </a:tblGrid>
              <a:tr h="540941">
                <a:tc>
                  <a:txBody>
                    <a:bodyPr/>
                    <a:lstStyle/>
                    <a:p>
                      <a:pPr algn="ctr"/>
                      <a:endParaRPr lang="en-US" b="1">
                        <a:solidFill>
                          <a:schemeClr val="bg1"/>
                        </a:solidFill>
                      </a:endParaRPr>
                    </a:p>
                  </a:txBody>
                  <a:tcPr>
                    <a:solidFill>
                      <a:schemeClr val="bg2">
                        <a:lumMod val="50000"/>
                      </a:schemeClr>
                    </a:solidFill>
                  </a:tcPr>
                </a:tc>
                <a:tc>
                  <a:txBody>
                    <a:bodyPr/>
                    <a:lstStyle/>
                    <a:p>
                      <a:pPr algn="ctr"/>
                      <a:r>
                        <a:rPr lang="en-US" b="1" dirty="0">
                          <a:solidFill>
                            <a:schemeClr val="bg1"/>
                          </a:solidFill>
                        </a:rPr>
                        <a:t>Pros</a:t>
                      </a:r>
                    </a:p>
                  </a:txBody>
                  <a:tcPr>
                    <a:solidFill>
                      <a:schemeClr val="bg2">
                        <a:lumMod val="50000"/>
                      </a:schemeClr>
                    </a:solidFill>
                  </a:tcPr>
                </a:tc>
                <a:tc>
                  <a:txBody>
                    <a:bodyPr/>
                    <a:lstStyle/>
                    <a:p>
                      <a:pPr algn="ctr"/>
                      <a:r>
                        <a:rPr lang="en-US" b="1" dirty="0">
                          <a:solidFill>
                            <a:schemeClr val="bg1"/>
                          </a:solidFill>
                        </a:rPr>
                        <a:t>Cons</a:t>
                      </a:r>
                    </a:p>
                  </a:txBody>
                  <a:tcPr>
                    <a:solidFill>
                      <a:schemeClr val="bg2">
                        <a:lumMod val="50000"/>
                      </a:schemeClr>
                    </a:solidFill>
                  </a:tcPr>
                </a:tc>
                <a:extLst>
                  <a:ext uri="{0D108BD9-81ED-4DB2-BD59-A6C34878D82A}">
                    <a16:rowId xmlns:a16="http://schemas.microsoft.com/office/drawing/2014/main" val="2116515264"/>
                  </a:ext>
                </a:extLst>
              </a:tr>
              <a:tr h="1510496">
                <a:tc>
                  <a:txBody>
                    <a:bodyPr/>
                    <a:lstStyle/>
                    <a:p>
                      <a:pPr algn="l"/>
                      <a:r>
                        <a:rPr lang="en-US" b="1" dirty="0">
                          <a:solidFill>
                            <a:schemeClr val="bg1"/>
                          </a:solidFill>
                        </a:rPr>
                        <a:t>Early Security Implementation</a:t>
                      </a:r>
                    </a:p>
                  </a:txBody>
                  <a:tcPr>
                    <a:solidFill>
                      <a:schemeClr val="bg2">
                        <a:lumMod val="50000"/>
                      </a:schemeClr>
                    </a:solidFill>
                  </a:tcPr>
                </a:tc>
                <a:tc>
                  <a:txBody>
                    <a:bodyPr/>
                    <a:lstStyle/>
                    <a:p>
                      <a:pPr marL="285750" indent="-285750">
                        <a:buClr>
                          <a:schemeClr val="bg1"/>
                        </a:buClr>
                        <a:buFont typeface="Arial" panose="020B0604020202020204" pitchFamily="34" charset="0"/>
                        <a:buChar char="•"/>
                      </a:pPr>
                      <a:r>
                        <a:rPr lang="en-US" dirty="0">
                          <a:solidFill>
                            <a:schemeClr val="bg1"/>
                          </a:solidFill>
                        </a:rPr>
                        <a:t>Lower long-term remediation and maintenance costs.</a:t>
                      </a:r>
                    </a:p>
                    <a:p>
                      <a:pPr marL="285750" indent="-285750">
                        <a:buClr>
                          <a:schemeClr val="bg1"/>
                        </a:buClr>
                        <a:buFont typeface="Arial" panose="020B0604020202020204" pitchFamily="34" charset="0"/>
                        <a:buChar char="•"/>
                      </a:pPr>
                      <a:r>
                        <a:rPr lang="en-US" dirty="0">
                          <a:solidFill>
                            <a:schemeClr val="bg1"/>
                          </a:solidFill>
                        </a:rPr>
                        <a:t>Improves code consistency and reliability.</a:t>
                      </a:r>
                    </a:p>
                    <a:p>
                      <a:pPr marL="285750" indent="-285750">
                        <a:buClr>
                          <a:schemeClr val="bg1"/>
                        </a:buClr>
                        <a:buFont typeface="Arial" panose="020B0604020202020204" pitchFamily="34" charset="0"/>
                        <a:buChar char="•"/>
                      </a:pPr>
                      <a:r>
                        <a:rPr lang="en-US" dirty="0">
                          <a:solidFill>
                            <a:schemeClr val="bg1"/>
                          </a:solidFill>
                        </a:rPr>
                        <a:t>Fewer vulnerabilities introduced over time.</a:t>
                      </a:r>
                    </a:p>
                  </a:txBody>
                  <a:tcPr>
                    <a:solidFill>
                      <a:schemeClr val="bg2">
                        <a:lumMod val="50000"/>
                      </a:schemeClr>
                    </a:solidFill>
                  </a:tcPr>
                </a:tc>
                <a:tc>
                  <a:txBody>
                    <a:bodyPr/>
                    <a:lstStyle/>
                    <a:p>
                      <a:pPr marL="285750" indent="-285750">
                        <a:buClr>
                          <a:schemeClr val="bg1"/>
                        </a:buClr>
                        <a:buFont typeface="Arial" panose="020B0604020202020204" pitchFamily="34" charset="0"/>
                        <a:buChar char="•"/>
                      </a:pPr>
                      <a:r>
                        <a:rPr lang="en-US" dirty="0">
                          <a:solidFill>
                            <a:schemeClr val="bg1"/>
                          </a:solidFill>
                        </a:rPr>
                        <a:t>Requires a higher upfront planning and development effort.</a:t>
                      </a:r>
                    </a:p>
                    <a:p>
                      <a:pPr marL="285750" indent="-285750">
                        <a:buClr>
                          <a:schemeClr val="bg1"/>
                        </a:buClr>
                        <a:buFont typeface="Arial" panose="020B0604020202020204" pitchFamily="34" charset="0"/>
                        <a:buChar char="•"/>
                      </a:pPr>
                      <a:r>
                        <a:rPr lang="en-US" dirty="0">
                          <a:solidFill>
                            <a:schemeClr val="bg1"/>
                          </a:solidFill>
                        </a:rPr>
                        <a:t>May be slower to reach development milestones.</a:t>
                      </a:r>
                    </a:p>
                    <a:p>
                      <a:pPr marL="285750" indent="-285750">
                        <a:buClr>
                          <a:schemeClr val="bg1"/>
                        </a:buClr>
                        <a:buFont typeface="Arial" panose="020B0604020202020204" pitchFamily="34" charset="0"/>
                        <a:buChar char="•"/>
                      </a:pPr>
                      <a:r>
                        <a:rPr lang="en-US" dirty="0">
                          <a:solidFill>
                            <a:schemeClr val="bg1"/>
                          </a:solidFill>
                        </a:rPr>
                        <a:t>Requires developer training and process changes.</a:t>
                      </a:r>
                    </a:p>
                  </a:txBody>
                  <a:tcPr>
                    <a:solidFill>
                      <a:schemeClr val="bg2">
                        <a:lumMod val="50000"/>
                      </a:schemeClr>
                    </a:solidFill>
                  </a:tcPr>
                </a:tc>
                <a:extLst>
                  <a:ext uri="{0D108BD9-81ED-4DB2-BD59-A6C34878D82A}">
                    <a16:rowId xmlns:a16="http://schemas.microsoft.com/office/drawing/2014/main" val="860042303"/>
                  </a:ext>
                </a:extLst>
              </a:tr>
              <a:tr h="1730746">
                <a:tc>
                  <a:txBody>
                    <a:bodyPr/>
                    <a:lstStyle/>
                    <a:p>
                      <a:pPr algn="l"/>
                      <a:r>
                        <a:rPr lang="en-US" b="1" dirty="0">
                          <a:solidFill>
                            <a:schemeClr val="bg1"/>
                          </a:solidFill>
                        </a:rPr>
                        <a:t>Late Security Implementation</a:t>
                      </a:r>
                    </a:p>
                  </a:txBody>
                  <a:tcPr>
                    <a:solidFill>
                      <a:schemeClr val="bg2">
                        <a:lumMod val="50000"/>
                      </a:schemeClr>
                    </a:solidFill>
                  </a:tcPr>
                </a:tc>
                <a:tc>
                  <a:txBody>
                    <a:bodyPr/>
                    <a:lstStyle/>
                    <a:p>
                      <a:pPr marL="285750" indent="-285750">
                        <a:buClr>
                          <a:schemeClr val="bg1"/>
                        </a:buClr>
                        <a:buFont typeface="Arial" panose="020B0604020202020204" pitchFamily="34" charset="0"/>
                        <a:buChar char="•"/>
                      </a:pPr>
                      <a:r>
                        <a:rPr lang="en-US" dirty="0">
                          <a:solidFill>
                            <a:schemeClr val="bg1"/>
                          </a:solidFill>
                        </a:rPr>
                        <a:t>Faster initial development and feature delivery.</a:t>
                      </a:r>
                    </a:p>
                    <a:p>
                      <a:pPr marL="285750" indent="-285750">
                        <a:buClr>
                          <a:schemeClr val="bg1"/>
                        </a:buClr>
                        <a:buFont typeface="Arial" panose="020B0604020202020204" pitchFamily="34" charset="0"/>
                        <a:buChar char="•"/>
                      </a:pPr>
                      <a:r>
                        <a:rPr lang="en-US" dirty="0">
                          <a:solidFill>
                            <a:schemeClr val="bg1"/>
                          </a:solidFill>
                        </a:rPr>
                        <a:t>Lower upfront development costs.</a:t>
                      </a:r>
                    </a:p>
                    <a:p>
                      <a:pPr marL="285750" indent="-285750">
                        <a:buClr>
                          <a:schemeClr val="bg1"/>
                        </a:buClr>
                        <a:buFont typeface="Arial" panose="020B0604020202020204" pitchFamily="34" charset="0"/>
                        <a:buChar char="•"/>
                      </a:pPr>
                      <a:r>
                        <a:rPr lang="en-US" dirty="0">
                          <a:solidFill>
                            <a:schemeClr val="bg1"/>
                          </a:solidFill>
                        </a:rPr>
                        <a:t>Fewer process constraints.</a:t>
                      </a:r>
                    </a:p>
                    <a:p>
                      <a:endParaRPr lang="en-US" dirty="0">
                        <a:solidFill>
                          <a:schemeClr val="bg1"/>
                        </a:solidFill>
                      </a:endParaRPr>
                    </a:p>
                  </a:txBody>
                  <a:tcPr>
                    <a:solidFill>
                      <a:schemeClr val="bg2">
                        <a:lumMod val="50000"/>
                      </a:schemeClr>
                    </a:solidFill>
                  </a:tcPr>
                </a:tc>
                <a:tc>
                  <a:txBody>
                    <a:bodyPr/>
                    <a:lstStyle/>
                    <a:p>
                      <a:pPr marL="285750" indent="-285750">
                        <a:buClr>
                          <a:schemeClr val="bg1"/>
                        </a:buClr>
                        <a:buFont typeface="Arial" panose="020B0604020202020204" pitchFamily="34" charset="0"/>
                        <a:buChar char="•"/>
                      </a:pPr>
                      <a:r>
                        <a:rPr lang="en-US" dirty="0">
                          <a:solidFill>
                            <a:schemeClr val="bg1"/>
                          </a:solidFill>
                        </a:rPr>
                        <a:t>Higher risk of exploitable vulnerabilities in production.</a:t>
                      </a:r>
                    </a:p>
                    <a:p>
                      <a:pPr marL="285750" indent="-285750">
                        <a:buClr>
                          <a:schemeClr val="bg1"/>
                        </a:buClr>
                        <a:buFont typeface="Arial" panose="020B0604020202020204" pitchFamily="34" charset="0"/>
                        <a:buChar char="•"/>
                      </a:pPr>
                      <a:r>
                        <a:rPr lang="en-US" dirty="0">
                          <a:solidFill>
                            <a:schemeClr val="bg1"/>
                          </a:solidFill>
                        </a:rPr>
                        <a:t>Retrofitting security to an existing system is more complex and expensive.</a:t>
                      </a:r>
                    </a:p>
                    <a:p>
                      <a:pPr marL="285750" indent="-285750">
                        <a:buClr>
                          <a:schemeClr val="bg1"/>
                        </a:buClr>
                        <a:buFont typeface="Arial" panose="020B0604020202020204" pitchFamily="34" charset="0"/>
                        <a:buChar char="•"/>
                      </a:pPr>
                      <a:r>
                        <a:rPr lang="en-US" dirty="0">
                          <a:solidFill>
                            <a:schemeClr val="bg1"/>
                          </a:solidFill>
                        </a:rPr>
                        <a:t>Harder to enforce consistent security standards.</a:t>
                      </a:r>
                    </a:p>
                    <a:p>
                      <a:pPr marL="285750" indent="-285750">
                        <a:buClr>
                          <a:schemeClr val="bg1"/>
                        </a:buClr>
                        <a:buFont typeface="Arial" panose="020B0604020202020204" pitchFamily="34" charset="0"/>
                        <a:buChar char="•"/>
                      </a:pPr>
                      <a:r>
                        <a:rPr lang="en-US" dirty="0">
                          <a:solidFill>
                            <a:schemeClr val="bg1"/>
                          </a:solidFill>
                        </a:rPr>
                        <a:t>May require emergency fixes and unplanned downtime.</a:t>
                      </a:r>
                    </a:p>
                  </a:txBody>
                  <a:tcPr>
                    <a:solidFill>
                      <a:schemeClr val="bg2">
                        <a:lumMod val="50000"/>
                      </a:schemeClr>
                    </a:solidFill>
                  </a:tcPr>
                </a:tc>
                <a:extLst>
                  <a:ext uri="{0D108BD9-81ED-4DB2-BD59-A6C34878D82A}">
                    <a16:rowId xmlns:a16="http://schemas.microsoft.com/office/drawing/2014/main" val="1057243598"/>
                  </a:ext>
                </a:extLst>
              </a:tr>
            </a:tbl>
          </a:graphicData>
        </a:graphic>
      </p:graphicFrame>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 Placeholder 1">
            <a:extLst>
              <a:ext uri="{FF2B5EF4-FFF2-40B4-BE49-F238E27FC236}">
                <a16:creationId xmlns:a16="http://schemas.microsoft.com/office/drawing/2014/main" id="{CB180596-634B-9EAF-50C1-792A6367E048}"/>
              </a:ext>
            </a:extLst>
          </p:cNvPr>
          <p:cNvSpPr>
            <a:spLocks noGrp="1" noChangeArrowheads="1"/>
          </p:cNvSpPr>
          <p:nvPr>
            <p:ph type="body" idx="1"/>
          </p:nvPr>
        </p:nvSpPr>
        <p:spPr bwMode="auto">
          <a:xfrm>
            <a:off x="685800" y="2082424"/>
            <a:ext cx="1004019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bg1"/>
                </a:solidFill>
                <a:effectLst/>
                <a:latin typeface="Arial" panose="020B0604020202020204" pitchFamily="34" charset="0"/>
              </a:rPr>
              <a:t>Expand Automation Coverage</a:t>
            </a:r>
            <a:br>
              <a:rPr kumimoji="0" lang="en-US" altLang="en-US" sz="1800" b="0" i="0" u="none" strike="noStrike" cap="none" normalizeH="0" baseline="0" dirty="0">
                <a:ln>
                  <a:noFill/>
                </a:ln>
                <a:solidFill>
                  <a:schemeClr val="bg1"/>
                </a:solidFill>
                <a:effectLst/>
                <a:latin typeface="Arial" panose="020B0604020202020204" pitchFamily="34" charset="0"/>
              </a:rPr>
            </a:br>
            <a:r>
              <a:rPr kumimoji="0" lang="en-US" altLang="en-US" sz="1800" b="0" i="0" u="none" strike="noStrike" cap="none" normalizeH="0" baseline="0" dirty="0">
                <a:ln>
                  <a:noFill/>
                </a:ln>
                <a:solidFill>
                  <a:schemeClr val="bg1"/>
                </a:solidFill>
                <a:effectLst/>
                <a:latin typeface="Arial" panose="020B0604020202020204" pitchFamily="34" charset="0"/>
              </a:rPr>
              <a:t>Increase automated enforcement beyond unit testing by integrating static analysis and dependency scanning earlier in the DevSecOps pipeline.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bg1"/>
                </a:solidFill>
                <a:effectLst/>
                <a:latin typeface="Arial" panose="020B0604020202020204" pitchFamily="34" charset="0"/>
              </a:rPr>
              <a:t>Formalize Secure Coding Training</a:t>
            </a:r>
            <a:br>
              <a:rPr kumimoji="0" lang="en-US" altLang="en-US" sz="1800" b="0" i="0" u="none" strike="noStrike" cap="none" normalizeH="0" baseline="0" dirty="0">
                <a:ln>
                  <a:noFill/>
                </a:ln>
                <a:solidFill>
                  <a:schemeClr val="bg1"/>
                </a:solidFill>
                <a:effectLst/>
                <a:latin typeface="Arial" panose="020B0604020202020204" pitchFamily="34" charset="0"/>
              </a:rPr>
            </a:br>
            <a:r>
              <a:rPr kumimoji="0" lang="en-US" altLang="en-US" sz="1800" b="0" i="0" u="none" strike="noStrike" cap="none" normalizeH="0" baseline="0" dirty="0">
                <a:ln>
                  <a:noFill/>
                </a:ln>
                <a:solidFill>
                  <a:schemeClr val="bg1"/>
                </a:solidFill>
                <a:effectLst/>
                <a:latin typeface="Arial" panose="020B0604020202020204" pitchFamily="34" charset="0"/>
              </a:rPr>
              <a:t>Provide recurring training on secure coding standards to ensure developers consistently understand and apply the security policy.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bg1"/>
                </a:solidFill>
                <a:effectLst/>
                <a:latin typeface="Arial" panose="020B0604020202020204" pitchFamily="34" charset="0"/>
              </a:rPr>
              <a:t>Strengthen Policy Enforcement Metrics</a:t>
            </a:r>
            <a:br>
              <a:rPr kumimoji="0" lang="en-US" altLang="en-US" sz="1800" b="0" i="0" u="none" strike="noStrike" cap="none" normalizeH="0" baseline="0" dirty="0">
                <a:ln>
                  <a:noFill/>
                </a:ln>
                <a:solidFill>
                  <a:schemeClr val="bg1"/>
                </a:solidFill>
                <a:effectLst/>
                <a:latin typeface="Arial" panose="020B0604020202020204" pitchFamily="34" charset="0"/>
              </a:rPr>
            </a:br>
            <a:r>
              <a:rPr kumimoji="0" lang="en-US" altLang="en-US" sz="1800" b="0" i="0" u="none" strike="noStrike" cap="none" normalizeH="0" baseline="0" dirty="0">
                <a:ln>
                  <a:noFill/>
                </a:ln>
                <a:solidFill>
                  <a:schemeClr val="bg1"/>
                </a:solidFill>
                <a:effectLst/>
                <a:latin typeface="Arial" panose="020B0604020202020204" pitchFamily="34" charset="0"/>
              </a:rPr>
              <a:t>Track policy compliance using measurable indicators such as failed builds, test coverage, and vulnerability trends.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bg1"/>
                </a:solidFill>
                <a:effectLst/>
                <a:latin typeface="Arial" panose="020B0604020202020204" pitchFamily="34" charset="0"/>
              </a:rPr>
              <a:t>Enhance Continuous Monitoring</a:t>
            </a:r>
            <a:br>
              <a:rPr kumimoji="0" lang="en-US" altLang="en-US" sz="1800" b="0" i="0" u="none" strike="noStrike" cap="none" normalizeH="0" baseline="0" dirty="0">
                <a:ln>
                  <a:noFill/>
                </a:ln>
                <a:solidFill>
                  <a:schemeClr val="bg1"/>
                </a:solidFill>
                <a:effectLst/>
                <a:latin typeface="Arial" panose="020B0604020202020204" pitchFamily="34" charset="0"/>
              </a:rPr>
            </a:br>
            <a:r>
              <a:rPr kumimoji="0" lang="en-US" altLang="en-US" sz="1800" b="0" i="0" u="none" strike="noStrike" cap="none" normalizeH="0" baseline="0" dirty="0">
                <a:ln>
                  <a:noFill/>
                </a:ln>
                <a:solidFill>
                  <a:schemeClr val="bg1"/>
                </a:solidFill>
                <a:effectLst/>
                <a:latin typeface="Arial" panose="020B0604020202020204" pitchFamily="34" charset="0"/>
              </a:rPr>
              <a:t>Improve logging, alerting, and audit capabilities to detect security issues post-deployment and support faster incident response.</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 Placeholder 1">
            <a:extLst>
              <a:ext uri="{FF2B5EF4-FFF2-40B4-BE49-F238E27FC236}">
                <a16:creationId xmlns:a16="http://schemas.microsoft.com/office/drawing/2014/main" id="{3C5F1187-2265-00DD-A164-261EA6F5F786}"/>
              </a:ext>
            </a:extLst>
          </p:cNvPr>
          <p:cNvSpPr>
            <a:spLocks noGrp="1" noChangeArrowheads="1"/>
          </p:cNvSpPr>
          <p:nvPr>
            <p:ph type="body" idx="1"/>
          </p:nvPr>
        </p:nvSpPr>
        <p:spPr bwMode="auto">
          <a:xfrm>
            <a:off x="789167" y="2685626"/>
            <a:ext cx="1018363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100000"/>
              </a:lnSpc>
              <a:spcBef>
                <a:spcPct val="0"/>
              </a:spcBef>
              <a:spcAft>
                <a:spcPct val="0"/>
              </a:spcAft>
              <a:buClrTx/>
              <a:buSzTx/>
            </a:pPr>
            <a:r>
              <a:rPr kumimoji="0" lang="en-US" altLang="en-US" sz="1800" b="0" i="0" u="none" strike="noStrike" cap="none" normalizeH="0" baseline="0" dirty="0">
                <a:ln>
                  <a:noFill/>
                </a:ln>
                <a:solidFill>
                  <a:schemeClr val="bg1"/>
                </a:solidFill>
                <a:effectLst/>
                <a:latin typeface="Arial" panose="020B0604020202020204" pitchFamily="34" charset="0"/>
              </a:rPr>
              <a:t>The Green Pace security policy establishes a strong foundation by defining clear secure coding standards and risk prioritization.</a:t>
            </a:r>
          </a:p>
          <a:p>
            <a:pPr marL="285750" indent="-285750" eaLnBrk="0" fontAlgn="base" hangingPunct="0">
              <a:lnSpc>
                <a:spcPct val="100000"/>
              </a:lnSpc>
              <a:spcBef>
                <a:spcPct val="0"/>
              </a:spcBef>
              <a:spcAft>
                <a:spcPct val="0"/>
              </a:spcAft>
              <a:buClrTx/>
              <a:buSzTx/>
            </a:pPr>
            <a:r>
              <a:rPr kumimoji="0" lang="en-US" altLang="en-US" sz="1800" b="0" i="0" u="none" strike="noStrike" cap="none" normalizeH="0" baseline="0" dirty="0">
                <a:ln>
                  <a:noFill/>
                </a:ln>
                <a:solidFill>
                  <a:schemeClr val="bg1"/>
                </a:solidFill>
                <a:effectLst/>
                <a:latin typeface="Arial" panose="020B0604020202020204" pitchFamily="34" charset="0"/>
              </a:rPr>
              <a:t>Applying security controls early in the development lifecycle reduces vulnerabilities and lowers remediation costs.</a:t>
            </a:r>
          </a:p>
          <a:p>
            <a:pPr marL="285750" indent="-285750" eaLnBrk="0" fontAlgn="base" hangingPunct="0">
              <a:lnSpc>
                <a:spcPct val="100000"/>
              </a:lnSpc>
              <a:spcBef>
                <a:spcPct val="0"/>
              </a:spcBef>
              <a:spcAft>
                <a:spcPct val="0"/>
              </a:spcAft>
              <a:buClrTx/>
              <a:buSzTx/>
            </a:pPr>
            <a:r>
              <a:rPr kumimoji="0" lang="en-US" altLang="en-US" sz="1800" b="0" i="0" u="none" strike="noStrike" cap="none" normalizeH="0" baseline="0" dirty="0">
                <a:ln>
                  <a:noFill/>
                </a:ln>
                <a:solidFill>
                  <a:schemeClr val="bg1"/>
                </a:solidFill>
                <a:effectLst/>
                <a:latin typeface="Arial" panose="020B0604020202020204" pitchFamily="34" charset="0"/>
              </a:rPr>
              <a:t>Automated testing, static analysis, and monitoring work together to enforce the policy and support defense in depth.</a:t>
            </a:r>
          </a:p>
          <a:p>
            <a:pPr marL="285750" indent="-285750" eaLnBrk="0" fontAlgn="base" hangingPunct="0">
              <a:lnSpc>
                <a:spcPct val="100000"/>
              </a:lnSpc>
              <a:spcBef>
                <a:spcPct val="0"/>
              </a:spcBef>
              <a:spcAft>
                <a:spcPct val="0"/>
              </a:spcAft>
              <a:buClrTx/>
              <a:buSzTx/>
            </a:pPr>
            <a:r>
              <a:rPr kumimoji="0" lang="en-US" altLang="en-US" sz="1800" b="0" i="0" u="none" strike="noStrike" cap="none" normalizeH="0" baseline="0" dirty="0">
                <a:ln>
                  <a:noFill/>
                </a:ln>
                <a:solidFill>
                  <a:schemeClr val="bg1"/>
                </a:solidFill>
                <a:effectLst/>
                <a:latin typeface="Arial" panose="020B0604020202020204" pitchFamily="34" charset="0"/>
              </a:rPr>
              <a:t>Continuous improvement and training are essential to ensure the policy remains effective as systems and threats evolve.</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1768110"/>
            <a:ext cx="10820400" cy="477834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rPr lang="en-US" dirty="0"/>
              <a:t>Dunham, R. (2021, October 26). Information Security Policies: Why they are important to your organization. Linford &amp; Company LLP. </a:t>
            </a:r>
            <a:r>
              <a:rPr lang="en-US" dirty="0">
                <a:hlinkClick r:id="rId4"/>
              </a:rPr>
              <a:t>https://linfordco.com/blog/information-security-policies/</a:t>
            </a:r>
            <a:r>
              <a:rPr lang="en-US" dirty="0"/>
              <a:t> </a:t>
            </a:r>
          </a:p>
          <a:p>
            <a:pPr marL="228600" lvl="0" indent="-228600" algn="l" rtl="0">
              <a:lnSpc>
                <a:spcPct val="90000"/>
              </a:lnSpc>
              <a:spcBef>
                <a:spcPts val="0"/>
              </a:spcBef>
              <a:spcAft>
                <a:spcPts val="0"/>
              </a:spcAft>
              <a:buClr>
                <a:schemeClr val="lt1"/>
              </a:buClr>
              <a:buSzPts val="2200"/>
              <a:buChar char="•"/>
            </a:pPr>
            <a:r>
              <a:rPr lang="en-US" dirty="0"/>
              <a:t>Red Hat Enterprise Linux. (2013, February 14). Red Hat Secure Programming Series 1: Input Validation (part 1 of 2) [Video]. YouTube. </a:t>
            </a:r>
            <a:r>
              <a:rPr lang="en-US" dirty="0">
                <a:hlinkClick r:id="rId5"/>
              </a:rPr>
              <a:t>https://www.youtube.com/watch?v=1bq0MJ5lV5c</a:t>
            </a:r>
            <a:r>
              <a:rPr lang="en-US" dirty="0"/>
              <a:t> </a:t>
            </a:r>
          </a:p>
          <a:p>
            <a:pPr marL="228600" lvl="0" indent="-228600" algn="l" rtl="0">
              <a:lnSpc>
                <a:spcPct val="90000"/>
              </a:lnSpc>
              <a:spcBef>
                <a:spcPts val="0"/>
              </a:spcBef>
              <a:spcAft>
                <a:spcPts val="0"/>
              </a:spcAft>
              <a:buClr>
                <a:schemeClr val="lt1"/>
              </a:buClr>
              <a:buSzPts val="2200"/>
              <a:buChar char="•"/>
            </a:pPr>
            <a:r>
              <a:rPr lang="en-US" dirty="0"/>
              <a:t>Seacord, R. C. (2013). Secure Coding in C and C++ (2nd ed.). Pearson Technology Group. </a:t>
            </a:r>
            <a:r>
              <a:rPr lang="en-US" dirty="0">
                <a:hlinkClick r:id="rId6"/>
              </a:rPr>
              <a:t>https://mbsdirect.vitalsource.com/books/9780132981972</a:t>
            </a:r>
            <a:r>
              <a:rPr lang="en-US" dirty="0"/>
              <a:t> </a:t>
            </a:r>
          </a:p>
          <a:p>
            <a:pPr marL="228600" lvl="0" indent="-228600" algn="l" rtl="0">
              <a:lnSpc>
                <a:spcPct val="90000"/>
              </a:lnSpc>
              <a:spcBef>
                <a:spcPts val="0"/>
              </a:spcBef>
              <a:spcAft>
                <a:spcPts val="0"/>
              </a:spcAft>
              <a:buClr>
                <a:schemeClr val="lt1"/>
              </a:buClr>
              <a:buSzPts val="2200"/>
              <a:buChar char="•"/>
            </a:pPr>
            <a:r>
              <a:rPr lang="en-US" dirty="0"/>
              <a:t>SEI CERT C++ Coding Standard - SEI CERT C++ Coding Standard - Confluence. (n.d.). </a:t>
            </a:r>
            <a:r>
              <a:rPr lang="en-US" dirty="0">
                <a:hlinkClick r:id="rId7"/>
              </a:rPr>
              <a:t>https://wiki.sei.cmu.edu/confluence/pages/viewpage.action?pageId=88046682</a:t>
            </a:r>
            <a:endParaRPr lang="en-US" dirty="0"/>
          </a:p>
          <a:p>
            <a:pPr marL="228600" lvl="0" indent="-228600" algn="l" rtl="0">
              <a:lnSpc>
                <a:spcPct val="90000"/>
              </a:lnSpc>
              <a:spcBef>
                <a:spcPts val="0"/>
              </a:spcBef>
              <a:spcAft>
                <a:spcPts val="0"/>
              </a:spcAft>
              <a:buClr>
                <a:schemeClr val="lt1"/>
              </a:buClr>
              <a:buSzPts val="2200"/>
              <a:buChar char="•"/>
            </a:pPr>
            <a:r>
              <a:rPr lang="en-US" dirty="0"/>
              <a:t>Start with Security: A Guide for Business. (2024, February 14). Federal Trade Commission. </a:t>
            </a:r>
            <a:r>
              <a:rPr lang="en-US" dirty="0">
                <a:hlinkClick r:id="rId8"/>
              </a:rPr>
              <a:t>https://www.ftc.gov/business-guidance/resources/start-security-guide-business</a:t>
            </a:r>
            <a:r>
              <a:rPr lang="en-US" dirty="0"/>
              <a:t> </a:t>
            </a:r>
          </a:p>
          <a:p>
            <a:pPr marL="228600" lvl="0" indent="-228600" algn="l" rtl="0">
              <a:lnSpc>
                <a:spcPct val="90000"/>
              </a:lnSpc>
              <a:spcBef>
                <a:spcPts val="0"/>
              </a:spcBef>
              <a:spcAft>
                <a:spcPts val="0"/>
              </a:spcAft>
              <a:buClr>
                <a:schemeClr val="lt1"/>
              </a:buClr>
              <a:buSzPts val="2200"/>
              <a:buChar char="•"/>
            </a:pPr>
            <a:endParaRPr dirty="0"/>
          </a:p>
        </p:txBody>
      </p:sp>
      <p:pic>
        <p:nvPicPr>
          <p:cNvPr id="239" name="Google Shape;239;p14" descr="Green Pace logo"/>
          <p:cNvPicPr preferRelativeResize="0"/>
          <p:nvPr/>
        </p:nvPicPr>
        <p:blipFill>
          <a:blip r:embed="rId9">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266</TotalTime>
  <Words>1461</Words>
  <Application>Microsoft Office PowerPoint</Application>
  <PresentationFormat>Widescreen</PresentationFormat>
  <Paragraphs>177</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Century Gothic</vt:lpstr>
      <vt:lpstr>Aptos Narrow</vt:lpstr>
      <vt:lpstr>Calibri</vt:lpstr>
      <vt:lpstr>Arial</vt:lpstr>
      <vt:lpstr>Vapor Trail</vt:lpstr>
      <vt:lpstr>Green Pace</vt:lpstr>
      <vt:lpstr>OVERVIEW: DEFENSE IN DEPTH</vt:lpstr>
      <vt:lpstr>THREATS MATRIX</vt:lpstr>
      <vt:lpstr>10 PRINCIPLES</vt:lpstr>
      <vt:lpstr>10 PRINCIPLES</vt:lpstr>
      <vt:lpstr>CODING STANDARDS</vt:lpstr>
      <vt:lpstr>ENCRYPTION POLICIES</vt:lpstr>
      <vt:lpstr>TRIPLE-A POLICIES</vt:lpstr>
      <vt:lpstr>Unit Testing Overview</vt:lpstr>
      <vt:lpstr>Unit Testing: CanAddToEmptyVector </vt:lpstr>
      <vt:lpstr>Unit Testing: AtThrowsOutOfRangeException </vt:lpstr>
      <vt:lpstr>Unit Testing: ResizeToZero </vt:lpstr>
      <vt:lpstr>Unit Testing: ResizeIncreasesCollection </vt:lpstr>
      <vt:lpstr>Unit Testing: AtThrowsAfterClear</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Mark Baligad</cp:lastModifiedBy>
  <cp:revision>4</cp:revision>
  <dcterms:created xsi:type="dcterms:W3CDTF">2020-08-19T17:59:24Z</dcterms:created>
  <dcterms:modified xsi:type="dcterms:W3CDTF">2025-12-13T19:24:28Z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